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734" r:id="rId1"/>
  </p:sldMasterIdLst>
  <p:notesMasterIdLst>
    <p:notesMasterId r:id="rId13"/>
  </p:notesMasterIdLst>
  <p:sldIdLst>
    <p:sldId id="256" r:id="rId2"/>
    <p:sldId id="257" r:id="rId3"/>
    <p:sldId id="258" r:id="rId4"/>
    <p:sldId id="266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12192000"/>
  <p:embeddedFontLst>
    <p:embeddedFont>
      <p:font typeface="Alexandria" panose="020B0604020202020204" charset="-78"/>
      <p:regular r:id="rId14"/>
    </p:embeddedFont>
    <p:embeddedFont>
      <p:font typeface="Nobile" panose="020B0604020202020204" charset="0"/>
      <p:regular r:id="rId15"/>
    </p:embeddedFont>
    <p:embeddedFont>
      <p:font typeface="Nobile Bold" panose="020B0604020202020204" charset="0"/>
      <p:regular r:id="rId16"/>
    </p:embeddedFont>
    <p:embeddedFont>
      <p:font typeface="Roboto" panose="02000000000000000000" pitchFamily="2" charset="0"/>
      <p:regular r:id="rId17"/>
      <p:bold r:id="rId18"/>
    </p:embeddedFont>
    <p:embeddedFont>
      <p:font typeface="Tw Cen MT" panose="020B0602020104020603" pitchFamily="34" charset="0"/>
      <p:regular r:id="rId19"/>
      <p:bold r:id="rId20"/>
      <p:italic r:id="rId21"/>
      <p:boldItalic r:id="rId2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5" d="100"/>
          <a:sy n="75" d="100"/>
        </p:scale>
        <p:origin x="51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8368F0E-1A61-47FC-BA55-154A1444BB35}" type="doc">
      <dgm:prSet loTypeId="urn:microsoft.com/office/officeart/2011/layout/TabList" loCatId="officeonline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CA"/>
        </a:p>
      </dgm:t>
    </dgm:pt>
    <dgm:pt modelId="{36F8E138-D95E-42E3-8867-A8D0AF4F63C3}">
      <dgm:prSet phldrT="[Text]"/>
      <dgm:spPr/>
      <dgm:t>
        <a:bodyPr/>
        <a:lstStyle/>
        <a:p>
          <a:r>
            <a:rPr lang="en-CA" dirty="0"/>
            <a:t>Improved Continuity of Care</a:t>
          </a:r>
        </a:p>
      </dgm:t>
    </dgm:pt>
    <dgm:pt modelId="{AF67D31C-F623-4A9E-8DA7-9C33B2405EDF}" type="parTrans" cxnId="{01DB764F-B019-4374-B0E2-AA636F57852A}">
      <dgm:prSet/>
      <dgm:spPr/>
      <dgm:t>
        <a:bodyPr/>
        <a:lstStyle/>
        <a:p>
          <a:endParaRPr lang="en-CA"/>
        </a:p>
      </dgm:t>
    </dgm:pt>
    <dgm:pt modelId="{7737B003-5397-4103-A749-DD6D5FE4A4C4}" type="sibTrans" cxnId="{01DB764F-B019-4374-B0E2-AA636F57852A}">
      <dgm:prSet/>
      <dgm:spPr/>
      <dgm:t>
        <a:bodyPr/>
        <a:lstStyle/>
        <a:p>
          <a:endParaRPr lang="en-CA"/>
        </a:p>
      </dgm:t>
    </dgm:pt>
    <dgm:pt modelId="{59D3D892-19A2-4656-8B36-CCDAB7EBA4B1}">
      <dgm:prSet phldrT="[Text]"/>
      <dgm:spPr/>
      <dgm:t>
        <a:bodyPr/>
        <a:lstStyle/>
        <a:p>
          <a:r>
            <a:rPr lang="en-CA" dirty="0"/>
            <a:t>Ensures patient information follows them across different healthcare providers, leading to more informed treatment decisions </a:t>
          </a:r>
        </a:p>
      </dgm:t>
    </dgm:pt>
    <dgm:pt modelId="{C33D8516-49F7-4AF8-932D-98FDA67509F8}" type="parTrans" cxnId="{D902A9B5-FADB-4331-84F9-74248C8D3333}">
      <dgm:prSet/>
      <dgm:spPr/>
      <dgm:t>
        <a:bodyPr/>
        <a:lstStyle/>
        <a:p>
          <a:endParaRPr lang="en-CA"/>
        </a:p>
      </dgm:t>
    </dgm:pt>
    <dgm:pt modelId="{896756BC-BF25-47AC-8510-0C28C832772E}" type="sibTrans" cxnId="{D902A9B5-FADB-4331-84F9-74248C8D3333}">
      <dgm:prSet/>
      <dgm:spPr/>
      <dgm:t>
        <a:bodyPr/>
        <a:lstStyle/>
        <a:p>
          <a:endParaRPr lang="en-CA"/>
        </a:p>
      </dgm:t>
    </dgm:pt>
    <dgm:pt modelId="{D77A3979-0D7D-49A8-97C7-BE77038676EF}">
      <dgm:prSet phldrT="[Text]"/>
      <dgm:spPr/>
      <dgm:t>
        <a:bodyPr/>
        <a:lstStyle/>
        <a:p>
          <a:r>
            <a:rPr lang="en-CA" dirty="0"/>
            <a:t>Reduced Medical Errors</a:t>
          </a:r>
        </a:p>
      </dgm:t>
    </dgm:pt>
    <dgm:pt modelId="{609B8719-AD7A-4A08-8E6E-A66E2F8D3C48}" type="parTrans" cxnId="{81AD424C-A1EF-4DA1-819F-75D1AC1965EC}">
      <dgm:prSet/>
      <dgm:spPr/>
      <dgm:t>
        <a:bodyPr/>
        <a:lstStyle/>
        <a:p>
          <a:endParaRPr lang="en-CA"/>
        </a:p>
      </dgm:t>
    </dgm:pt>
    <dgm:pt modelId="{40C1C909-87C9-4E09-BF9F-FBAD4A0CB694}" type="sibTrans" cxnId="{81AD424C-A1EF-4DA1-819F-75D1AC1965EC}">
      <dgm:prSet/>
      <dgm:spPr/>
      <dgm:t>
        <a:bodyPr/>
        <a:lstStyle/>
        <a:p>
          <a:endParaRPr lang="en-CA"/>
        </a:p>
      </dgm:t>
    </dgm:pt>
    <dgm:pt modelId="{D5110799-F4C8-4E59-B81A-62055329201D}">
      <dgm:prSet phldrT="[Text]"/>
      <dgm:spPr/>
      <dgm:t>
        <a:bodyPr/>
        <a:lstStyle/>
        <a:p>
          <a:r>
            <a:rPr lang="en-CA" dirty="0"/>
            <a:t>Prevents misidentification of patients and gives doctors complete information to avoid prescribing contraindicated medications </a:t>
          </a:r>
        </a:p>
      </dgm:t>
    </dgm:pt>
    <dgm:pt modelId="{2AFE1127-1B73-4031-AC35-331EE7A81437}" type="parTrans" cxnId="{6D736A46-9CF0-4098-B408-65176333F438}">
      <dgm:prSet/>
      <dgm:spPr/>
      <dgm:t>
        <a:bodyPr/>
        <a:lstStyle/>
        <a:p>
          <a:endParaRPr lang="en-CA"/>
        </a:p>
      </dgm:t>
    </dgm:pt>
    <dgm:pt modelId="{93041665-8D06-4A9B-9C88-DF922E31D3B0}" type="sibTrans" cxnId="{6D736A46-9CF0-4098-B408-65176333F438}">
      <dgm:prSet/>
      <dgm:spPr/>
      <dgm:t>
        <a:bodyPr/>
        <a:lstStyle/>
        <a:p>
          <a:endParaRPr lang="en-CA"/>
        </a:p>
      </dgm:t>
    </dgm:pt>
    <dgm:pt modelId="{B2C21989-4523-4CE2-950C-B29E02FB2E00}">
      <dgm:prSet phldrT="[Text]"/>
      <dgm:spPr/>
      <dgm:t>
        <a:bodyPr/>
        <a:lstStyle/>
        <a:p>
          <a:r>
            <a:rPr lang="en-CA" dirty="0"/>
            <a:t>Enhanced Efficiency</a:t>
          </a:r>
        </a:p>
      </dgm:t>
    </dgm:pt>
    <dgm:pt modelId="{D74CD55E-222A-4D09-9C58-597F17C13EDE}" type="parTrans" cxnId="{E30DC7BE-5B3C-49A9-9F0B-076EA3C3D9B7}">
      <dgm:prSet/>
      <dgm:spPr/>
      <dgm:t>
        <a:bodyPr/>
        <a:lstStyle/>
        <a:p>
          <a:endParaRPr lang="en-CA"/>
        </a:p>
      </dgm:t>
    </dgm:pt>
    <dgm:pt modelId="{EC0A218A-72F5-460C-B05D-106D4C623E0F}" type="sibTrans" cxnId="{E30DC7BE-5B3C-49A9-9F0B-076EA3C3D9B7}">
      <dgm:prSet/>
      <dgm:spPr/>
      <dgm:t>
        <a:bodyPr/>
        <a:lstStyle/>
        <a:p>
          <a:endParaRPr lang="en-CA"/>
        </a:p>
      </dgm:t>
    </dgm:pt>
    <dgm:pt modelId="{A7944E08-91EE-480C-B6BA-794D53FC4747}">
      <dgm:prSet phldrT="[Text]"/>
      <dgm:spPr/>
      <dgm:t>
        <a:bodyPr/>
        <a:lstStyle/>
        <a:p>
          <a:r>
            <a:rPr lang="en-CA" dirty="0"/>
            <a:t>Streamlines patient check-in processes and eliminates the need for repeated medical history collection </a:t>
          </a:r>
        </a:p>
      </dgm:t>
    </dgm:pt>
    <dgm:pt modelId="{1E5F4181-AAA8-4C33-B125-56C6C57D475C}" type="parTrans" cxnId="{9008DCF9-97DE-4031-9B59-744CA9EABEF1}">
      <dgm:prSet/>
      <dgm:spPr/>
      <dgm:t>
        <a:bodyPr/>
        <a:lstStyle/>
        <a:p>
          <a:endParaRPr lang="en-CA"/>
        </a:p>
      </dgm:t>
    </dgm:pt>
    <dgm:pt modelId="{DE89FDA2-6352-41E2-AFE3-17F7BBA70BD7}" type="sibTrans" cxnId="{9008DCF9-97DE-4031-9B59-744CA9EABEF1}">
      <dgm:prSet/>
      <dgm:spPr/>
      <dgm:t>
        <a:bodyPr/>
        <a:lstStyle/>
        <a:p>
          <a:endParaRPr lang="en-CA"/>
        </a:p>
      </dgm:t>
    </dgm:pt>
    <dgm:pt modelId="{396CEA60-5ADB-438B-BD31-5F676995B68E}">
      <dgm:prSet phldrT="[Text]"/>
      <dgm:spPr/>
      <dgm:t>
        <a:bodyPr/>
        <a:lstStyle/>
        <a:p>
          <a:r>
            <a:rPr lang="en-CA" dirty="0"/>
            <a:t>The aggregated data could eventually support population health initiatives and medical research </a:t>
          </a:r>
        </a:p>
      </dgm:t>
    </dgm:pt>
    <dgm:pt modelId="{7C7D7B23-4454-43A4-B27C-1413EE9E947B}" type="parTrans" cxnId="{41C50EA6-B0EC-42A9-9AB9-D4D802454B23}">
      <dgm:prSet/>
      <dgm:spPr/>
      <dgm:t>
        <a:bodyPr/>
        <a:lstStyle/>
        <a:p>
          <a:endParaRPr lang="en-CA"/>
        </a:p>
      </dgm:t>
    </dgm:pt>
    <dgm:pt modelId="{71072E5C-A7CD-43E8-A0E7-1F743E635F20}" type="sibTrans" cxnId="{41C50EA6-B0EC-42A9-9AB9-D4D802454B23}">
      <dgm:prSet/>
      <dgm:spPr/>
      <dgm:t>
        <a:bodyPr/>
        <a:lstStyle/>
        <a:p>
          <a:endParaRPr lang="en-CA"/>
        </a:p>
      </dgm:t>
    </dgm:pt>
    <dgm:pt modelId="{BB833959-DC37-4069-8B2C-B89D98D6443A}">
      <dgm:prSet phldrT="[Text]"/>
      <dgm:spPr/>
      <dgm:t>
        <a:bodyPr/>
        <a:lstStyle/>
        <a:p>
          <a:r>
            <a:rPr lang="en-CA" dirty="0"/>
            <a:t>Better Patient Experience</a:t>
          </a:r>
        </a:p>
      </dgm:t>
    </dgm:pt>
    <dgm:pt modelId="{717330B9-65FB-4AAF-9884-D30088C0FC8E}" type="parTrans" cxnId="{6F7E1591-E882-4462-83D7-4737B02DBE0B}">
      <dgm:prSet/>
      <dgm:spPr/>
      <dgm:t>
        <a:bodyPr/>
        <a:lstStyle/>
        <a:p>
          <a:endParaRPr lang="en-CA"/>
        </a:p>
      </dgm:t>
    </dgm:pt>
    <dgm:pt modelId="{75C5E993-74DC-428C-8C88-F281F74FFBB3}" type="sibTrans" cxnId="{6F7E1591-E882-4462-83D7-4737B02DBE0B}">
      <dgm:prSet/>
      <dgm:spPr/>
      <dgm:t>
        <a:bodyPr/>
        <a:lstStyle/>
        <a:p>
          <a:endParaRPr lang="en-CA"/>
        </a:p>
      </dgm:t>
    </dgm:pt>
    <dgm:pt modelId="{081A9C79-F9CF-488A-A28C-88E107E2BE35}">
      <dgm:prSet phldrT="[Text]"/>
      <dgm:spPr/>
      <dgm:t>
        <a:bodyPr/>
        <a:lstStyle/>
        <a:p>
          <a:r>
            <a:rPr lang="en-CA"/>
            <a:t>Data-Driven Healthcare</a:t>
          </a:r>
          <a:endParaRPr lang="en-CA" dirty="0"/>
        </a:p>
      </dgm:t>
    </dgm:pt>
    <dgm:pt modelId="{9B00D357-FC6B-413A-B36F-58A098913B81}" type="parTrans" cxnId="{F3B7C885-A507-4641-BAFE-BA9B47B3E4EA}">
      <dgm:prSet/>
      <dgm:spPr/>
      <dgm:t>
        <a:bodyPr/>
        <a:lstStyle/>
        <a:p>
          <a:endParaRPr lang="en-CA"/>
        </a:p>
      </dgm:t>
    </dgm:pt>
    <dgm:pt modelId="{751A8322-B850-4715-87A1-1B9B65387D4D}" type="sibTrans" cxnId="{F3B7C885-A507-4641-BAFE-BA9B47B3E4EA}">
      <dgm:prSet/>
      <dgm:spPr/>
      <dgm:t>
        <a:bodyPr/>
        <a:lstStyle/>
        <a:p>
          <a:endParaRPr lang="en-CA"/>
        </a:p>
      </dgm:t>
    </dgm:pt>
    <dgm:pt modelId="{215C025C-9D16-4EE0-A5F7-33263873654C}">
      <dgm:prSet phldrT="[Text]"/>
      <dgm:spPr/>
      <dgm:t>
        <a:bodyPr/>
        <a:lstStyle/>
        <a:p>
          <a:r>
            <a:rPr lang="en-CA" dirty="0"/>
            <a:t>Patients don't need to repeatedly provide the same information to different providers or remember their entire medical history.</a:t>
          </a:r>
        </a:p>
      </dgm:t>
    </dgm:pt>
    <dgm:pt modelId="{8B184627-C935-4DF0-913F-D42E03AE5B67}" type="parTrans" cxnId="{34B74182-889D-4398-88EE-C56BB4DB5F5D}">
      <dgm:prSet/>
      <dgm:spPr/>
      <dgm:t>
        <a:bodyPr/>
        <a:lstStyle/>
        <a:p>
          <a:endParaRPr lang="en-CA"/>
        </a:p>
      </dgm:t>
    </dgm:pt>
    <dgm:pt modelId="{085A381B-8623-4B2E-98EA-8BBF3D3F2AC7}" type="sibTrans" cxnId="{34B74182-889D-4398-88EE-C56BB4DB5F5D}">
      <dgm:prSet/>
      <dgm:spPr/>
      <dgm:t>
        <a:bodyPr/>
        <a:lstStyle/>
        <a:p>
          <a:endParaRPr lang="en-CA"/>
        </a:p>
      </dgm:t>
    </dgm:pt>
    <dgm:pt modelId="{22B7133D-91E2-4574-82E7-9F60A38F2FC4}">
      <dgm:prSet phldrT="[Text]"/>
      <dgm:spPr/>
      <dgm:t>
        <a:bodyPr/>
        <a:lstStyle/>
        <a:p>
          <a:r>
            <a:rPr lang="en-US" b="1" dirty="0"/>
            <a:t>Doctor Collaboration &amp; Medical Education</a:t>
          </a:r>
          <a:endParaRPr lang="en-CA" dirty="0"/>
        </a:p>
      </dgm:t>
    </dgm:pt>
    <dgm:pt modelId="{A87E5F7D-3D6E-44ED-8E02-6C1B2FEC4567}" type="parTrans" cxnId="{C82ED4C8-0D16-4253-9498-4440166FB1AC}">
      <dgm:prSet/>
      <dgm:spPr/>
      <dgm:t>
        <a:bodyPr/>
        <a:lstStyle/>
        <a:p>
          <a:endParaRPr lang="en-CA"/>
        </a:p>
      </dgm:t>
    </dgm:pt>
    <dgm:pt modelId="{80BF7281-052D-4285-8629-0CFFD0FC7FAE}" type="sibTrans" cxnId="{C82ED4C8-0D16-4253-9498-4440166FB1AC}">
      <dgm:prSet/>
      <dgm:spPr/>
      <dgm:t>
        <a:bodyPr/>
        <a:lstStyle/>
        <a:p>
          <a:endParaRPr lang="en-CA"/>
        </a:p>
      </dgm:t>
    </dgm:pt>
    <dgm:pt modelId="{964D3BCD-9DC4-4424-8B62-5319B5E650E4}">
      <dgm:prSet phldrT="[Text]"/>
      <dgm:spPr/>
      <dgm:t>
        <a:bodyPr/>
        <a:lstStyle/>
        <a:p>
          <a:r>
            <a:rPr lang="en-US"/>
            <a:t>Enables doctors to consult each other on patient cases, reducing treatment errors while providing valuable learning opportunities for intern and junior doctors.</a:t>
          </a:r>
          <a:endParaRPr lang="en-CA" dirty="0"/>
        </a:p>
      </dgm:t>
    </dgm:pt>
    <dgm:pt modelId="{B1C438BB-EF31-4E23-B196-C681152A6874}" type="parTrans" cxnId="{A6732D19-1C30-445C-8CEE-0F35407D5CD0}">
      <dgm:prSet/>
      <dgm:spPr/>
      <dgm:t>
        <a:bodyPr/>
        <a:lstStyle/>
        <a:p>
          <a:endParaRPr lang="en-CA"/>
        </a:p>
      </dgm:t>
    </dgm:pt>
    <dgm:pt modelId="{48F5AE92-1632-44AB-8F09-EAE0833F84FC}" type="sibTrans" cxnId="{A6732D19-1C30-445C-8CEE-0F35407D5CD0}">
      <dgm:prSet/>
      <dgm:spPr/>
      <dgm:t>
        <a:bodyPr/>
        <a:lstStyle/>
        <a:p>
          <a:endParaRPr lang="en-CA"/>
        </a:p>
      </dgm:t>
    </dgm:pt>
    <dgm:pt modelId="{FE4B007B-67E1-4FD8-8C4E-85374BBF65D3}" type="pres">
      <dgm:prSet presAssocID="{18368F0E-1A61-47FC-BA55-154A1444BB35}" presName="Name0" presStyleCnt="0">
        <dgm:presLayoutVars>
          <dgm:chMax/>
          <dgm:chPref val="3"/>
          <dgm:dir/>
          <dgm:animOne val="branch"/>
          <dgm:animLvl val="lvl"/>
        </dgm:presLayoutVars>
      </dgm:prSet>
      <dgm:spPr/>
    </dgm:pt>
    <dgm:pt modelId="{6E07A8AB-3FA4-409A-94C5-54668804F226}" type="pres">
      <dgm:prSet presAssocID="{36F8E138-D95E-42E3-8867-A8D0AF4F63C3}" presName="composite" presStyleCnt="0"/>
      <dgm:spPr/>
    </dgm:pt>
    <dgm:pt modelId="{4968EA35-08A2-4B4D-84C0-E08607C24399}" type="pres">
      <dgm:prSet presAssocID="{36F8E138-D95E-42E3-8867-A8D0AF4F63C3}" presName="FirstChild" presStyleLbl="revTx" presStyleIdx="0" presStyleCnt="6">
        <dgm:presLayoutVars>
          <dgm:chMax val="0"/>
          <dgm:chPref val="0"/>
          <dgm:bulletEnabled val="1"/>
        </dgm:presLayoutVars>
      </dgm:prSet>
      <dgm:spPr/>
    </dgm:pt>
    <dgm:pt modelId="{F890FD6A-960A-4745-A0FF-9037729A89F7}" type="pres">
      <dgm:prSet presAssocID="{36F8E138-D95E-42E3-8867-A8D0AF4F63C3}" presName="Parent" presStyleLbl="alignNode1" presStyleIdx="0" presStyleCnt="6">
        <dgm:presLayoutVars>
          <dgm:chMax val="3"/>
          <dgm:chPref val="3"/>
          <dgm:bulletEnabled val="1"/>
        </dgm:presLayoutVars>
      </dgm:prSet>
      <dgm:spPr/>
    </dgm:pt>
    <dgm:pt modelId="{576AC282-31B3-4266-9ACB-E0CCE7A13BD2}" type="pres">
      <dgm:prSet presAssocID="{36F8E138-D95E-42E3-8867-A8D0AF4F63C3}" presName="Accent" presStyleLbl="parChTrans1D1" presStyleIdx="0" presStyleCnt="6"/>
      <dgm:spPr/>
    </dgm:pt>
    <dgm:pt modelId="{BC2435CB-1E85-4252-9240-72A706CA64EA}" type="pres">
      <dgm:prSet presAssocID="{7737B003-5397-4103-A749-DD6D5FE4A4C4}" presName="sibTrans" presStyleCnt="0"/>
      <dgm:spPr/>
    </dgm:pt>
    <dgm:pt modelId="{99A8AA79-C0EC-4CCC-8494-988636D7888F}" type="pres">
      <dgm:prSet presAssocID="{D77A3979-0D7D-49A8-97C7-BE77038676EF}" presName="composite" presStyleCnt="0"/>
      <dgm:spPr/>
    </dgm:pt>
    <dgm:pt modelId="{41C4C87B-841E-4C6E-85DC-B4235BB80A60}" type="pres">
      <dgm:prSet presAssocID="{D77A3979-0D7D-49A8-97C7-BE77038676EF}" presName="FirstChild" presStyleLbl="revTx" presStyleIdx="1" presStyleCnt="6">
        <dgm:presLayoutVars>
          <dgm:chMax val="0"/>
          <dgm:chPref val="0"/>
          <dgm:bulletEnabled val="1"/>
        </dgm:presLayoutVars>
      </dgm:prSet>
      <dgm:spPr/>
    </dgm:pt>
    <dgm:pt modelId="{DCB322C7-FF23-449A-9FBA-3B1F08E9F536}" type="pres">
      <dgm:prSet presAssocID="{D77A3979-0D7D-49A8-97C7-BE77038676EF}" presName="Parent" presStyleLbl="alignNode1" presStyleIdx="1" presStyleCnt="6">
        <dgm:presLayoutVars>
          <dgm:chMax val="3"/>
          <dgm:chPref val="3"/>
          <dgm:bulletEnabled val="1"/>
        </dgm:presLayoutVars>
      </dgm:prSet>
      <dgm:spPr/>
    </dgm:pt>
    <dgm:pt modelId="{A7FA0F7A-3CA8-47CF-AF5A-DC5B00A47FF3}" type="pres">
      <dgm:prSet presAssocID="{D77A3979-0D7D-49A8-97C7-BE77038676EF}" presName="Accent" presStyleLbl="parChTrans1D1" presStyleIdx="1" presStyleCnt="6"/>
      <dgm:spPr/>
    </dgm:pt>
    <dgm:pt modelId="{001217A0-017C-41DF-8767-F5E4097B9DCE}" type="pres">
      <dgm:prSet presAssocID="{40C1C909-87C9-4E09-BF9F-FBAD4A0CB694}" presName="sibTrans" presStyleCnt="0"/>
      <dgm:spPr/>
    </dgm:pt>
    <dgm:pt modelId="{5E8295F9-F721-4E0D-9048-C7F8CFC39215}" type="pres">
      <dgm:prSet presAssocID="{B2C21989-4523-4CE2-950C-B29E02FB2E00}" presName="composite" presStyleCnt="0"/>
      <dgm:spPr/>
    </dgm:pt>
    <dgm:pt modelId="{48135EF2-52E0-47B5-9816-711560395B14}" type="pres">
      <dgm:prSet presAssocID="{B2C21989-4523-4CE2-950C-B29E02FB2E00}" presName="FirstChild" presStyleLbl="revTx" presStyleIdx="2" presStyleCnt="6">
        <dgm:presLayoutVars>
          <dgm:chMax val="0"/>
          <dgm:chPref val="0"/>
          <dgm:bulletEnabled val="1"/>
        </dgm:presLayoutVars>
      </dgm:prSet>
      <dgm:spPr/>
    </dgm:pt>
    <dgm:pt modelId="{3C311462-45EC-411E-A627-F15F25A5CA34}" type="pres">
      <dgm:prSet presAssocID="{B2C21989-4523-4CE2-950C-B29E02FB2E00}" presName="Parent" presStyleLbl="alignNode1" presStyleIdx="2" presStyleCnt="6">
        <dgm:presLayoutVars>
          <dgm:chMax val="3"/>
          <dgm:chPref val="3"/>
          <dgm:bulletEnabled val="1"/>
        </dgm:presLayoutVars>
      </dgm:prSet>
      <dgm:spPr/>
    </dgm:pt>
    <dgm:pt modelId="{D19EB1A5-8243-49FB-B4AF-3218E0DE6B83}" type="pres">
      <dgm:prSet presAssocID="{B2C21989-4523-4CE2-950C-B29E02FB2E00}" presName="Accent" presStyleLbl="parChTrans1D1" presStyleIdx="2" presStyleCnt="6"/>
      <dgm:spPr/>
    </dgm:pt>
    <dgm:pt modelId="{F4CF48A8-FF62-46AC-9517-B9137E832E0C}" type="pres">
      <dgm:prSet presAssocID="{EC0A218A-72F5-460C-B05D-106D4C623E0F}" presName="sibTrans" presStyleCnt="0"/>
      <dgm:spPr/>
    </dgm:pt>
    <dgm:pt modelId="{808C4FAB-086C-4818-A82D-BA7E4D4A7C2B}" type="pres">
      <dgm:prSet presAssocID="{BB833959-DC37-4069-8B2C-B89D98D6443A}" presName="composite" presStyleCnt="0"/>
      <dgm:spPr/>
    </dgm:pt>
    <dgm:pt modelId="{FE83615C-2107-4138-B365-E20426925944}" type="pres">
      <dgm:prSet presAssocID="{BB833959-DC37-4069-8B2C-B89D98D6443A}" presName="FirstChild" presStyleLbl="revTx" presStyleIdx="3" presStyleCnt="6">
        <dgm:presLayoutVars>
          <dgm:chMax val="0"/>
          <dgm:chPref val="0"/>
          <dgm:bulletEnabled val="1"/>
        </dgm:presLayoutVars>
      </dgm:prSet>
      <dgm:spPr/>
    </dgm:pt>
    <dgm:pt modelId="{461057B0-5B01-4C90-928A-9AA2EB12E617}" type="pres">
      <dgm:prSet presAssocID="{BB833959-DC37-4069-8B2C-B89D98D6443A}" presName="Parent" presStyleLbl="alignNode1" presStyleIdx="3" presStyleCnt="6">
        <dgm:presLayoutVars>
          <dgm:chMax val="3"/>
          <dgm:chPref val="3"/>
          <dgm:bulletEnabled val="1"/>
        </dgm:presLayoutVars>
      </dgm:prSet>
      <dgm:spPr/>
    </dgm:pt>
    <dgm:pt modelId="{13F1B405-B3A8-42C7-97B5-2904FAAC83D7}" type="pres">
      <dgm:prSet presAssocID="{BB833959-DC37-4069-8B2C-B89D98D6443A}" presName="Accent" presStyleLbl="parChTrans1D1" presStyleIdx="3" presStyleCnt="6"/>
      <dgm:spPr/>
    </dgm:pt>
    <dgm:pt modelId="{6CDB36E9-5A27-4E2F-9CC4-55906C1014B5}" type="pres">
      <dgm:prSet presAssocID="{75C5E993-74DC-428C-8C88-F281F74FFBB3}" presName="sibTrans" presStyleCnt="0"/>
      <dgm:spPr/>
    </dgm:pt>
    <dgm:pt modelId="{AA19D386-57EC-47AD-8580-077A2440B32A}" type="pres">
      <dgm:prSet presAssocID="{081A9C79-F9CF-488A-A28C-88E107E2BE35}" presName="composite" presStyleCnt="0"/>
      <dgm:spPr/>
    </dgm:pt>
    <dgm:pt modelId="{64799A8B-FA7D-44C7-97AE-260B0F8EB778}" type="pres">
      <dgm:prSet presAssocID="{081A9C79-F9CF-488A-A28C-88E107E2BE35}" presName="FirstChild" presStyleLbl="revTx" presStyleIdx="4" presStyleCnt="6">
        <dgm:presLayoutVars>
          <dgm:chMax val="0"/>
          <dgm:chPref val="0"/>
          <dgm:bulletEnabled val="1"/>
        </dgm:presLayoutVars>
      </dgm:prSet>
      <dgm:spPr/>
    </dgm:pt>
    <dgm:pt modelId="{BC555624-D26A-4622-8B39-4BE4F50CC947}" type="pres">
      <dgm:prSet presAssocID="{081A9C79-F9CF-488A-A28C-88E107E2BE35}" presName="Parent" presStyleLbl="alignNode1" presStyleIdx="4" presStyleCnt="6">
        <dgm:presLayoutVars>
          <dgm:chMax val="3"/>
          <dgm:chPref val="3"/>
          <dgm:bulletEnabled val="1"/>
        </dgm:presLayoutVars>
      </dgm:prSet>
      <dgm:spPr/>
    </dgm:pt>
    <dgm:pt modelId="{A711E6BB-82B9-4618-98DF-C439ABF6BF58}" type="pres">
      <dgm:prSet presAssocID="{081A9C79-F9CF-488A-A28C-88E107E2BE35}" presName="Accent" presStyleLbl="parChTrans1D1" presStyleIdx="4" presStyleCnt="6"/>
      <dgm:spPr/>
    </dgm:pt>
    <dgm:pt modelId="{B1F7DB5F-DDAF-4E6A-A90A-8F42F5B0BEE7}" type="pres">
      <dgm:prSet presAssocID="{751A8322-B850-4715-87A1-1B9B65387D4D}" presName="sibTrans" presStyleCnt="0"/>
      <dgm:spPr/>
    </dgm:pt>
    <dgm:pt modelId="{AB17E8BC-2F2F-47D7-BB32-726AAD331E7A}" type="pres">
      <dgm:prSet presAssocID="{22B7133D-91E2-4574-82E7-9F60A38F2FC4}" presName="composite" presStyleCnt="0"/>
      <dgm:spPr/>
    </dgm:pt>
    <dgm:pt modelId="{C8C5B8A4-4276-4B43-987B-233034592A12}" type="pres">
      <dgm:prSet presAssocID="{22B7133D-91E2-4574-82E7-9F60A38F2FC4}" presName="FirstChild" presStyleLbl="revTx" presStyleIdx="5" presStyleCnt="6">
        <dgm:presLayoutVars>
          <dgm:chMax val="0"/>
          <dgm:chPref val="0"/>
          <dgm:bulletEnabled val="1"/>
        </dgm:presLayoutVars>
      </dgm:prSet>
      <dgm:spPr/>
    </dgm:pt>
    <dgm:pt modelId="{4E68A662-BC8E-485C-9CB8-812E65FF4EE3}" type="pres">
      <dgm:prSet presAssocID="{22B7133D-91E2-4574-82E7-9F60A38F2FC4}" presName="Parent" presStyleLbl="alignNode1" presStyleIdx="5" presStyleCnt="6">
        <dgm:presLayoutVars>
          <dgm:chMax val="3"/>
          <dgm:chPref val="3"/>
          <dgm:bulletEnabled val="1"/>
        </dgm:presLayoutVars>
      </dgm:prSet>
      <dgm:spPr/>
    </dgm:pt>
    <dgm:pt modelId="{19620770-DE4C-4672-847D-8BAD21ECC9A2}" type="pres">
      <dgm:prSet presAssocID="{22B7133D-91E2-4574-82E7-9F60A38F2FC4}" presName="Accent" presStyleLbl="parChTrans1D1" presStyleIdx="5" presStyleCnt="6"/>
      <dgm:spPr/>
    </dgm:pt>
  </dgm:ptLst>
  <dgm:cxnLst>
    <dgm:cxn modelId="{7A6B0603-42A5-479B-9FD0-53FB83DD1975}" type="presOf" srcId="{59D3D892-19A2-4656-8B36-CCDAB7EBA4B1}" destId="{4968EA35-08A2-4B4D-84C0-E08607C24399}" srcOrd="0" destOrd="0" presId="urn:microsoft.com/office/officeart/2011/layout/TabList"/>
    <dgm:cxn modelId="{3F297B10-703D-4E08-BE88-EE2F158F7855}" type="presOf" srcId="{B2C21989-4523-4CE2-950C-B29E02FB2E00}" destId="{3C311462-45EC-411E-A627-F15F25A5CA34}" srcOrd="0" destOrd="0" presId="urn:microsoft.com/office/officeart/2011/layout/TabList"/>
    <dgm:cxn modelId="{A6732D19-1C30-445C-8CEE-0F35407D5CD0}" srcId="{22B7133D-91E2-4574-82E7-9F60A38F2FC4}" destId="{964D3BCD-9DC4-4424-8B62-5319B5E650E4}" srcOrd="0" destOrd="0" parTransId="{B1C438BB-EF31-4E23-B196-C681152A6874}" sibTransId="{48F5AE92-1632-44AB-8F09-EAE0833F84FC}"/>
    <dgm:cxn modelId="{9ECC933F-B101-4CB5-A839-FAB5DBB4D849}" type="presOf" srcId="{D77A3979-0D7D-49A8-97C7-BE77038676EF}" destId="{DCB322C7-FF23-449A-9FBA-3B1F08E9F536}" srcOrd="0" destOrd="0" presId="urn:microsoft.com/office/officeart/2011/layout/TabList"/>
    <dgm:cxn modelId="{24666E5E-009D-43D4-A494-AE94C356FFF0}" type="presOf" srcId="{964D3BCD-9DC4-4424-8B62-5319B5E650E4}" destId="{C8C5B8A4-4276-4B43-987B-233034592A12}" srcOrd="0" destOrd="0" presId="urn:microsoft.com/office/officeart/2011/layout/TabList"/>
    <dgm:cxn modelId="{88201A42-0716-41CF-8F0B-94C175242817}" type="presOf" srcId="{22B7133D-91E2-4574-82E7-9F60A38F2FC4}" destId="{4E68A662-BC8E-485C-9CB8-812E65FF4EE3}" srcOrd="0" destOrd="0" presId="urn:microsoft.com/office/officeart/2011/layout/TabList"/>
    <dgm:cxn modelId="{0F7A3263-38D1-4BC6-897D-6AA9EC2A06E6}" type="presOf" srcId="{BB833959-DC37-4069-8B2C-B89D98D6443A}" destId="{461057B0-5B01-4C90-928A-9AA2EB12E617}" srcOrd="0" destOrd="0" presId="urn:microsoft.com/office/officeart/2011/layout/TabList"/>
    <dgm:cxn modelId="{6D736A46-9CF0-4098-B408-65176333F438}" srcId="{D77A3979-0D7D-49A8-97C7-BE77038676EF}" destId="{D5110799-F4C8-4E59-B81A-62055329201D}" srcOrd="0" destOrd="0" parTransId="{2AFE1127-1B73-4031-AC35-331EE7A81437}" sibTransId="{93041665-8D06-4A9B-9C88-DF922E31D3B0}"/>
    <dgm:cxn modelId="{BBAA5A4B-6005-4DCC-ACE7-51ABABBA20C4}" type="presOf" srcId="{D5110799-F4C8-4E59-B81A-62055329201D}" destId="{41C4C87B-841E-4C6E-85DC-B4235BB80A60}" srcOrd="0" destOrd="0" presId="urn:microsoft.com/office/officeart/2011/layout/TabList"/>
    <dgm:cxn modelId="{81AD424C-A1EF-4DA1-819F-75D1AC1965EC}" srcId="{18368F0E-1A61-47FC-BA55-154A1444BB35}" destId="{D77A3979-0D7D-49A8-97C7-BE77038676EF}" srcOrd="1" destOrd="0" parTransId="{609B8719-AD7A-4A08-8E6E-A66E2F8D3C48}" sibTransId="{40C1C909-87C9-4E09-BF9F-FBAD4A0CB694}"/>
    <dgm:cxn modelId="{1699B64C-C02E-40AA-BE8B-C3FEF986DAD6}" type="presOf" srcId="{18368F0E-1A61-47FC-BA55-154A1444BB35}" destId="{FE4B007B-67E1-4FD8-8C4E-85374BBF65D3}" srcOrd="0" destOrd="0" presId="urn:microsoft.com/office/officeart/2011/layout/TabList"/>
    <dgm:cxn modelId="{01DB764F-B019-4374-B0E2-AA636F57852A}" srcId="{18368F0E-1A61-47FC-BA55-154A1444BB35}" destId="{36F8E138-D95E-42E3-8867-A8D0AF4F63C3}" srcOrd="0" destOrd="0" parTransId="{AF67D31C-F623-4A9E-8DA7-9C33B2405EDF}" sibTransId="{7737B003-5397-4103-A749-DD6D5FE4A4C4}"/>
    <dgm:cxn modelId="{031E6276-FD7D-4AF2-8A92-66B4D366C0EB}" type="presOf" srcId="{215C025C-9D16-4EE0-A5F7-33263873654C}" destId="{FE83615C-2107-4138-B365-E20426925944}" srcOrd="0" destOrd="0" presId="urn:microsoft.com/office/officeart/2011/layout/TabList"/>
    <dgm:cxn modelId="{9AEBD879-7437-440F-A102-8D226AA9D13C}" type="presOf" srcId="{36F8E138-D95E-42E3-8867-A8D0AF4F63C3}" destId="{F890FD6A-960A-4745-A0FF-9037729A89F7}" srcOrd="0" destOrd="0" presId="urn:microsoft.com/office/officeart/2011/layout/TabList"/>
    <dgm:cxn modelId="{34B74182-889D-4398-88EE-C56BB4DB5F5D}" srcId="{BB833959-DC37-4069-8B2C-B89D98D6443A}" destId="{215C025C-9D16-4EE0-A5F7-33263873654C}" srcOrd="0" destOrd="0" parTransId="{8B184627-C935-4DF0-913F-D42E03AE5B67}" sibTransId="{085A381B-8623-4B2E-98EA-8BBF3D3F2AC7}"/>
    <dgm:cxn modelId="{F3B7C885-A507-4641-BAFE-BA9B47B3E4EA}" srcId="{18368F0E-1A61-47FC-BA55-154A1444BB35}" destId="{081A9C79-F9CF-488A-A28C-88E107E2BE35}" srcOrd="4" destOrd="0" parTransId="{9B00D357-FC6B-413A-B36F-58A098913B81}" sibTransId="{751A8322-B850-4715-87A1-1B9B65387D4D}"/>
    <dgm:cxn modelId="{6F7E1591-E882-4462-83D7-4737B02DBE0B}" srcId="{18368F0E-1A61-47FC-BA55-154A1444BB35}" destId="{BB833959-DC37-4069-8B2C-B89D98D6443A}" srcOrd="3" destOrd="0" parTransId="{717330B9-65FB-4AAF-9884-D30088C0FC8E}" sibTransId="{75C5E993-74DC-428C-8C88-F281F74FFBB3}"/>
    <dgm:cxn modelId="{41C50EA6-B0EC-42A9-9AB9-D4D802454B23}" srcId="{081A9C79-F9CF-488A-A28C-88E107E2BE35}" destId="{396CEA60-5ADB-438B-BD31-5F676995B68E}" srcOrd="0" destOrd="0" parTransId="{7C7D7B23-4454-43A4-B27C-1413EE9E947B}" sibTransId="{71072E5C-A7CD-43E8-A0E7-1F743E635F20}"/>
    <dgm:cxn modelId="{D902A9B5-FADB-4331-84F9-74248C8D3333}" srcId="{36F8E138-D95E-42E3-8867-A8D0AF4F63C3}" destId="{59D3D892-19A2-4656-8B36-CCDAB7EBA4B1}" srcOrd="0" destOrd="0" parTransId="{C33D8516-49F7-4AF8-932D-98FDA67509F8}" sibTransId="{896756BC-BF25-47AC-8510-0C28C832772E}"/>
    <dgm:cxn modelId="{9A8B9FBB-F184-449B-9718-944CD3A2A94A}" type="presOf" srcId="{081A9C79-F9CF-488A-A28C-88E107E2BE35}" destId="{BC555624-D26A-4622-8B39-4BE4F50CC947}" srcOrd="0" destOrd="0" presId="urn:microsoft.com/office/officeart/2011/layout/TabList"/>
    <dgm:cxn modelId="{E30DC7BE-5B3C-49A9-9F0B-076EA3C3D9B7}" srcId="{18368F0E-1A61-47FC-BA55-154A1444BB35}" destId="{B2C21989-4523-4CE2-950C-B29E02FB2E00}" srcOrd="2" destOrd="0" parTransId="{D74CD55E-222A-4D09-9C58-597F17C13EDE}" sibTransId="{EC0A218A-72F5-460C-B05D-106D4C623E0F}"/>
    <dgm:cxn modelId="{843575C7-5489-4454-8E50-B5508E42E771}" type="presOf" srcId="{396CEA60-5ADB-438B-BD31-5F676995B68E}" destId="{64799A8B-FA7D-44C7-97AE-260B0F8EB778}" srcOrd="0" destOrd="0" presId="urn:microsoft.com/office/officeart/2011/layout/TabList"/>
    <dgm:cxn modelId="{C82ED4C8-0D16-4253-9498-4440166FB1AC}" srcId="{18368F0E-1A61-47FC-BA55-154A1444BB35}" destId="{22B7133D-91E2-4574-82E7-9F60A38F2FC4}" srcOrd="5" destOrd="0" parTransId="{A87E5F7D-3D6E-44ED-8E02-6C1B2FEC4567}" sibTransId="{80BF7281-052D-4285-8629-0CFFD0FC7FAE}"/>
    <dgm:cxn modelId="{100BF7E7-84A0-4A89-B21D-D179C9602EA8}" type="presOf" srcId="{A7944E08-91EE-480C-B6BA-794D53FC4747}" destId="{48135EF2-52E0-47B5-9816-711560395B14}" srcOrd="0" destOrd="0" presId="urn:microsoft.com/office/officeart/2011/layout/TabList"/>
    <dgm:cxn modelId="{9008DCF9-97DE-4031-9B59-744CA9EABEF1}" srcId="{B2C21989-4523-4CE2-950C-B29E02FB2E00}" destId="{A7944E08-91EE-480C-B6BA-794D53FC4747}" srcOrd="0" destOrd="0" parTransId="{1E5F4181-AAA8-4C33-B125-56C6C57D475C}" sibTransId="{DE89FDA2-6352-41E2-AFE3-17F7BBA70BD7}"/>
    <dgm:cxn modelId="{13F6AEB1-F7B6-47B5-8CF5-41D670272197}" type="presParOf" srcId="{FE4B007B-67E1-4FD8-8C4E-85374BBF65D3}" destId="{6E07A8AB-3FA4-409A-94C5-54668804F226}" srcOrd="0" destOrd="0" presId="urn:microsoft.com/office/officeart/2011/layout/TabList"/>
    <dgm:cxn modelId="{A63F46CD-4041-4B4B-8D95-41EDA6856BE5}" type="presParOf" srcId="{6E07A8AB-3FA4-409A-94C5-54668804F226}" destId="{4968EA35-08A2-4B4D-84C0-E08607C24399}" srcOrd="0" destOrd="0" presId="urn:microsoft.com/office/officeart/2011/layout/TabList"/>
    <dgm:cxn modelId="{225D76A2-8946-4C39-A9B9-A90A690027A5}" type="presParOf" srcId="{6E07A8AB-3FA4-409A-94C5-54668804F226}" destId="{F890FD6A-960A-4745-A0FF-9037729A89F7}" srcOrd="1" destOrd="0" presId="urn:microsoft.com/office/officeart/2011/layout/TabList"/>
    <dgm:cxn modelId="{253D00B5-22CC-4C4B-93E1-F736C85C27FD}" type="presParOf" srcId="{6E07A8AB-3FA4-409A-94C5-54668804F226}" destId="{576AC282-31B3-4266-9ACB-E0CCE7A13BD2}" srcOrd="2" destOrd="0" presId="urn:microsoft.com/office/officeart/2011/layout/TabList"/>
    <dgm:cxn modelId="{CFBB1992-AC1A-4E7C-8499-F893835CC309}" type="presParOf" srcId="{FE4B007B-67E1-4FD8-8C4E-85374BBF65D3}" destId="{BC2435CB-1E85-4252-9240-72A706CA64EA}" srcOrd="1" destOrd="0" presId="urn:microsoft.com/office/officeart/2011/layout/TabList"/>
    <dgm:cxn modelId="{6382A5CE-9178-4BE5-B6F8-12DADE22DDAB}" type="presParOf" srcId="{FE4B007B-67E1-4FD8-8C4E-85374BBF65D3}" destId="{99A8AA79-C0EC-4CCC-8494-988636D7888F}" srcOrd="2" destOrd="0" presId="urn:microsoft.com/office/officeart/2011/layout/TabList"/>
    <dgm:cxn modelId="{AF1DF1E5-A4BD-42F1-9B7A-B4C6804DDEB4}" type="presParOf" srcId="{99A8AA79-C0EC-4CCC-8494-988636D7888F}" destId="{41C4C87B-841E-4C6E-85DC-B4235BB80A60}" srcOrd="0" destOrd="0" presId="urn:microsoft.com/office/officeart/2011/layout/TabList"/>
    <dgm:cxn modelId="{2E3E9007-6A38-4006-8045-9B98E6667136}" type="presParOf" srcId="{99A8AA79-C0EC-4CCC-8494-988636D7888F}" destId="{DCB322C7-FF23-449A-9FBA-3B1F08E9F536}" srcOrd="1" destOrd="0" presId="urn:microsoft.com/office/officeart/2011/layout/TabList"/>
    <dgm:cxn modelId="{771949F7-B3E8-4EAC-97BA-2B70B294A156}" type="presParOf" srcId="{99A8AA79-C0EC-4CCC-8494-988636D7888F}" destId="{A7FA0F7A-3CA8-47CF-AF5A-DC5B00A47FF3}" srcOrd="2" destOrd="0" presId="urn:microsoft.com/office/officeart/2011/layout/TabList"/>
    <dgm:cxn modelId="{C8175757-2C3C-4C0C-9C9A-7C292E37B7A3}" type="presParOf" srcId="{FE4B007B-67E1-4FD8-8C4E-85374BBF65D3}" destId="{001217A0-017C-41DF-8767-F5E4097B9DCE}" srcOrd="3" destOrd="0" presId="urn:microsoft.com/office/officeart/2011/layout/TabList"/>
    <dgm:cxn modelId="{A21E6FF8-12F3-450E-855E-5316A6CF9549}" type="presParOf" srcId="{FE4B007B-67E1-4FD8-8C4E-85374BBF65D3}" destId="{5E8295F9-F721-4E0D-9048-C7F8CFC39215}" srcOrd="4" destOrd="0" presId="urn:microsoft.com/office/officeart/2011/layout/TabList"/>
    <dgm:cxn modelId="{D86FD140-FE23-471D-94D5-D7D07E0F66AF}" type="presParOf" srcId="{5E8295F9-F721-4E0D-9048-C7F8CFC39215}" destId="{48135EF2-52E0-47B5-9816-711560395B14}" srcOrd="0" destOrd="0" presId="urn:microsoft.com/office/officeart/2011/layout/TabList"/>
    <dgm:cxn modelId="{CBE3A4C8-ABC2-4B5D-AD86-59A8C3B2652A}" type="presParOf" srcId="{5E8295F9-F721-4E0D-9048-C7F8CFC39215}" destId="{3C311462-45EC-411E-A627-F15F25A5CA34}" srcOrd="1" destOrd="0" presId="urn:microsoft.com/office/officeart/2011/layout/TabList"/>
    <dgm:cxn modelId="{9C98D9E8-A63C-4C44-97A3-3DD6C95A98A0}" type="presParOf" srcId="{5E8295F9-F721-4E0D-9048-C7F8CFC39215}" destId="{D19EB1A5-8243-49FB-B4AF-3218E0DE6B83}" srcOrd="2" destOrd="0" presId="urn:microsoft.com/office/officeart/2011/layout/TabList"/>
    <dgm:cxn modelId="{B3FEE60A-DB3D-4324-A758-76E9D1116DF5}" type="presParOf" srcId="{FE4B007B-67E1-4FD8-8C4E-85374BBF65D3}" destId="{F4CF48A8-FF62-46AC-9517-B9137E832E0C}" srcOrd="5" destOrd="0" presId="urn:microsoft.com/office/officeart/2011/layout/TabList"/>
    <dgm:cxn modelId="{93D41594-BC1A-460C-8EDB-B1A021DCF11B}" type="presParOf" srcId="{FE4B007B-67E1-4FD8-8C4E-85374BBF65D3}" destId="{808C4FAB-086C-4818-A82D-BA7E4D4A7C2B}" srcOrd="6" destOrd="0" presId="urn:microsoft.com/office/officeart/2011/layout/TabList"/>
    <dgm:cxn modelId="{365D5DDF-C142-4342-AA31-F3BA73B512BD}" type="presParOf" srcId="{808C4FAB-086C-4818-A82D-BA7E4D4A7C2B}" destId="{FE83615C-2107-4138-B365-E20426925944}" srcOrd="0" destOrd="0" presId="urn:microsoft.com/office/officeart/2011/layout/TabList"/>
    <dgm:cxn modelId="{89CF8BC6-0F18-4ADA-986A-CA34AC62B0AA}" type="presParOf" srcId="{808C4FAB-086C-4818-A82D-BA7E4D4A7C2B}" destId="{461057B0-5B01-4C90-928A-9AA2EB12E617}" srcOrd="1" destOrd="0" presId="urn:microsoft.com/office/officeart/2011/layout/TabList"/>
    <dgm:cxn modelId="{D0A0409B-E1D9-4327-987C-99E65F1E3DBE}" type="presParOf" srcId="{808C4FAB-086C-4818-A82D-BA7E4D4A7C2B}" destId="{13F1B405-B3A8-42C7-97B5-2904FAAC83D7}" srcOrd="2" destOrd="0" presId="urn:microsoft.com/office/officeart/2011/layout/TabList"/>
    <dgm:cxn modelId="{EF74A59C-5742-46C5-AEEA-2591B9DD2006}" type="presParOf" srcId="{FE4B007B-67E1-4FD8-8C4E-85374BBF65D3}" destId="{6CDB36E9-5A27-4E2F-9CC4-55906C1014B5}" srcOrd="7" destOrd="0" presId="urn:microsoft.com/office/officeart/2011/layout/TabList"/>
    <dgm:cxn modelId="{42D973B7-3AAA-442D-A510-B3D603DE5356}" type="presParOf" srcId="{FE4B007B-67E1-4FD8-8C4E-85374BBF65D3}" destId="{AA19D386-57EC-47AD-8580-077A2440B32A}" srcOrd="8" destOrd="0" presId="urn:microsoft.com/office/officeart/2011/layout/TabList"/>
    <dgm:cxn modelId="{304E576E-5049-4E12-98FE-BFD85A2332D2}" type="presParOf" srcId="{AA19D386-57EC-47AD-8580-077A2440B32A}" destId="{64799A8B-FA7D-44C7-97AE-260B0F8EB778}" srcOrd="0" destOrd="0" presId="urn:microsoft.com/office/officeart/2011/layout/TabList"/>
    <dgm:cxn modelId="{461F43E5-6EB4-41CB-911E-3A87F8D23B8D}" type="presParOf" srcId="{AA19D386-57EC-47AD-8580-077A2440B32A}" destId="{BC555624-D26A-4622-8B39-4BE4F50CC947}" srcOrd="1" destOrd="0" presId="urn:microsoft.com/office/officeart/2011/layout/TabList"/>
    <dgm:cxn modelId="{73EFA54C-9640-4016-8EE5-A9BE27BE0984}" type="presParOf" srcId="{AA19D386-57EC-47AD-8580-077A2440B32A}" destId="{A711E6BB-82B9-4618-98DF-C439ABF6BF58}" srcOrd="2" destOrd="0" presId="urn:microsoft.com/office/officeart/2011/layout/TabList"/>
    <dgm:cxn modelId="{60CD4CDB-24F5-44CB-BD52-5221504A9C78}" type="presParOf" srcId="{FE4B007B-67E1-4FD8-8C4E-85374BBF65D3}" destId="{B1F7DB5F-DDAF-4E6A-A90A-8F42F5B0BEE7}" srcOrd="9" destOrd="0" presId="urn:microsoft.com/office/officeart/2011/layout/TabList"/>
    <dgm:cxn modelId="{22B34E53-BED0-4B67-A327-1EB53EDB5109}" type="presParOf" srcId="{FE4B007B-67E1-4FD8-8C4E-85374BBF65D3}" destId="{AB17E8BC-2F2F-47D7-BB32-726AAD331E7A}" srcOrd="10" destOrd="0" presId="urn:microsoft.com/office/officeart/2011/layout/TabList"/>
    <dgm:cxn modelId="{8634D0B9-D99D-40D2-9BAE-81CFF73BAC62}" type="presParOf" srcId="{AB17E8BC-2F2F-47D7-BB32-726AAD331E7A}" destId="{C8C5B8A4-4276-4B43-987B-233034592A12}" srcOrd="0" destOrd="0" presId="urn:microsoft.com/office/officeart/2011/layout/TabList"/>
    <dgm:cxn modelId="{1A6CD76E-A8E8-48CB-9835-B507DC8E7699}" type="presParOf" srcId="{AB17E8BC-2F2F-47D7-BB32-726AAD331E7A}" destId="{4E68A662-BC8E-485C-9CB8-812E65FF4EE3}" srcOrd="1" destOrd="0" presId="urn:microsoft.com/office/officeart/2011/layout/TabList"/>
    <dgm:cxn modelId="{BA60C259-A47E-4AA2-BDE1-2F5C81B88DF9}" type="presParOf" srcId="{AB17E8BC-2F2F-47D7-BB32-726AAD331E7A}" destId="{19620770-DE4C-4672-847D-8BAD21ECC9A2}" srcOrd="2" destOrd="0" presId="urn:microsoft.com/office/officeart/2011/layout/Tab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620770-DE4C-4672-847D-8BAD21ECC9A2}">
      <dsp:nvSpPr>
        <dsp:cNvPr id="0" name=""/>
        <dsp:cNvSpPr/>
      </dsp:nvSpPr>
      <dsp:spPr>
        <a:xfrm>
          <a:off x="0" y="5412721"/>
          <a:ext cx="10660017" cy="0"/>
        </a:xfrm>
        <a:prstGeom prst="line">
          <a:avLst/>
        </a:prstGeom>
        <a:noFill/>
        <a:ln w="1587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711E6BB-82B9-4618-98DF-C439ABF6BF58}">
      <dsp:nvSpPr>
        <dsp:cNvPr id="0" name=""/>
        <dsp:cNvSpPr/>
      </dsp:nvSpPr>
      <dsp:spPr>
        <a:xfrm>
          <a:off x="0" y="4503448"/>
          <a:ext cx="10660017" cy="0"/>
        </a:xfrm>
        <a:prstGeom prst="line">
          <a:avLst/>
        </a:prstGeom>
        <a:noFill/>
        <a:ln w="1587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3F1B405-B3A8-42C7-97B5-2904FAAC83D7}">
      <dsp:nvSpPr>
        <dsp:cNvPr id="0" name=""/>
        <dsp:cNvSpPr/>
      </dsp:nvSpPr>
      <dsp:spPr>
        <a:xfrm>
          <a:off x="0" y="3594174"/>
          <a:ext cx="10660017" cy="0"/>
        </a:xfrm>
        <a:prstGeom prst="line">
          <a:avLst/>
        </a:prstGeom>
        <a:noFill/>
        <a:ln w="1587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19EB1A5-8243-49FB-B4AF-3218E0DE6B83}">
      <dsp:nvSpPr>
        <dsp:cNvPr id="0" name=""/>
        <dsp:cNvSpPr/>
      </dsp:nvSpPr>
      <dsp:spPr>
        <a:xfrm>
          <a:off x="0" y="2684901"/>
          <a:ext cx="10660017" cy="0"/>
        </a:xfrm>
        <a:prstGeom prst="line">
          <a:avLst/>
        </a:prstGeom>
        <a:noFill/>
        <a:ln w="1587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7FA0F7A-3CA8-47CF-AF5A-DC5B00A47FF3}">
      <dsp:nvSpPr>
        <dsp:cNvPr id="0" name=""/>
        <dsp:cNvSpPr/>
      </dsp:nvSpPr>
      <dsp:spPr>
        <a:xfrm>
          <a:off x="0" y="1775628"/>
          <a:ext cx="10660017" cy="0"/>
        </a:xfrm>
        <a:prstGeom prst="line">
          <a:avLst/>
        </a:prstGeom>
        <a:noFill/>
        <a:ln w="1587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76AC282-31B3-4266-9ACB-E0CCE7A13BD2}">
      <dsp:nvSpPr>
        <dsp:cNvPr id="0" name=""/>
        <dsp:cNvSpPr/>
      </dsp:nvSpPr>
      <dsp:spPr>
        <a:xfrm>
          <a:off x="0" y="866355"/>
          <a:ext cx="10660017" cy="0"/>
        </a:xfrm>
        <a:prstGeom prst="line">
          <a:avLst/>
        </a:prstGeom>
        <a:noFill/>
        <a:ln w="1587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968EA35-08A2-4B4D-84C0-E08607C24399}">
      <dsp:nvSpPr>
        <dsp:cNvPr id="0" name=""/>
        <dsp:cNvSpPr/>
      </dsp:nvSpPr>
      <dsp:spPr>
        <a:xfrm>
          <a:off x="2771604" y="380"/>
          <a:ext cx="7888412" cy="8659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005" tIns="40005" rIns="40005" bIns="40005" numCol="1" spcCol="1270" anchor="b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100" kern="1200" dirty="0"/>
            <a:t>Ensures patient information follows them across different healthcare providers, leading to more informed treatment decisions </a:t>
          </a:r>
        </a:p>
      </dsp:txBody>
      <dsp:txXfrm>
        <a:off x="2771604" y="380"/>
        <a:ext cx="7888412" cy="865974"/>
      </dsp:txXfrm>
    </dsp:sp>
    <dsp:sp modelId="{F890FD6A-960A-4745-A0FF-9037729A89F7}">
      <dsp:nvSpPr>
        <dsp:cNvPr id="0" name=""/>
        <dsp:cNvSpPr/>
      </dsp:nvSpPr>
      <dsp:spPr>
        <a:xfrm>
          <a:off x="0" y="380"/>
          <a:ext cx="2771604" cy="865974"/>
        </a:xfrm>
        <a:prstGeom prst="round2SameRect">
          <a:avLst>
            <a:gd name="adj1" fmla="val 16670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815" tIns="43815" rIns="43815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300" kern="1200" dirty="0"/>
            <a:t>Improved Continuity of Care</a:t>
          </a:r>
        </a:p>
      </dsp:txBody>
      <dsp:txXfrm>
        <a:off x="42281" y="42661"/>
        <a:ext cx="2687042" cy="823693"/>
      </dsp:txXfrm>
    </dsp:sp>
    <dsp:sp modelId="{41C4C87B-841E-4C6E-85DC-B4235BB80A60}">
      <dsp:nvSpPr>
        <dsp:cNvPr id="0" name=""/>
        <dsp:cNvSpPr/>
      </dsp:nvSpPr>
      <dsp:spPr>
        <a:xfrm>
          <a:off x="2771604" y="909653"/>
          <a:ext cx="7888412" cy="8659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005" tIns="40005" rIns="40005" bIns="40005" numCol="1" spcCol="1270" anchor="b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100" kern="1200" dirty="0"/>
            <a:t>Prevents misidentification of patients and gives doctors complete information to avoid prescribing contraindicated medications </a:t>
          </a:r>
        </a:p>
      </dsp:txBody>
      <dsp:txXfrm>
        <a:off x="2771604" y="909653"/>
        <a:ext cx="7888412" cy="865974"/>
      </dsp:txXfrm>
    </dsp:sp>
    <dsp:sp modelId="{DCB322C7-FF23-449A-9FBA-3B1F08E9F536}">
      <dsp:nvSpPr>
        <dsp:cNvPr id="0" name=""/>
        <dsp:cNvSpPr/>
      </dsp:nvSpPr>
      <dsp:spPr>
        <a:xfrm>
          <a:off x="0" y="909653"/>
          <a:ext cx="2771604" cy="865974"/>
        </a:xfrm>
        <a:prstGeom prst="round2SameRect">
          <a:avLst>
            <a:gd name="adj1" fmla="val 16670"/>
            <a:gd name="adj2" fmla="val 0"/>
          </a:avLst>
        </a:prstGeom>
        <a:solidFill>
          <a:schemeClr val="accent3">
            <a:hueOff val="-685956"/>
            <a:satOff val="4174"/>
            <a:lumOff val="0"/>
            <a:alphaOff val="0"/>
          </a:schemeClr>
        </a:solidFill>
        <a:ln w="15875" cap="flat" cmpd="sng" algn="ctr">
          <a:solidFill>
            <a:schemeClr val="accent3">
              <a:hueOff val="-685956"/>
              <a:satOff val="4174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815" tIns="43815" rIns="43815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300" kern="1200" dirty="0"/>
            <a:t>Reduced Medical Errors</a:t>
          </a:r>
        </a:p>
      </dsp:txBody>
      <dsp:txXfrm>
        <a:off x="42281" y="951934"/>
        <a:ext cx="2687042" cy="823693"/>
      </dsp:txXfrm>
    </dsp:sp>
    <dsp:sp modelId="{48135EF2-52E0-47B5-9816-711560395B14}">
      <dsp:nvSpPr>
        <dsp:cNvPr id="0" name=""/>
        <dsp:cNvSpPr/>
      </dsp:nvSpPr>
      <dsp:spPr>
        <a:xfrm>
          <a:off x="2771604" y="1818927"/>
          <a:ext cx="7888412" cy="8659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005" tIns="40005" rIns="40005" bIns="40005" numCol="1" spcCol="1270" anchor="b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100" kern="1200" dirty="0"/>
            <a:t>Streamlines patient check-in processes and eliminates the need for repeated medical history collection </a:t>
          </a:r>
        </a:p>
      </dsp:txBody>
      <dsp:txXfrm>
        <a:off x="2771604" y="1818927"/>
        <a:ext cx="7888412" cy="865974"/>
      </dsp:txXfrm>
    </dsp:sp>
    <dsp:sp modelId="{3C311462-45EC-411E-A627-F15F25A5CA34}">
      <dsp:nvSpPr>
        <dsp:cNvPr id="0" name=""/>
        <dsp:cNvSpPr/>
      </dsp:nvSpPr>
      <dsp:spPr>
        <a:xfrm>
          <a:off x="0" y="1818927"/>
          <a:ext cx="2771604" cy="865974"/>
        </a:xfrm>
        <a:prstGeom prst="round2SameRect">
          <a:avLst>
            <a:gd name="adj1" fmla="val 16670"/>
            <a:gd name="adj2" fmla="val 0"/>
          </a:avLst>
        </a:prstGeom>
        <a:solidFill>
          <a:schemeClr val="accent3">
            <a:hueOff val="-1371913"/>
            <a:satOff val="8348"/>
            <a:lumOff val="0"/>
            <a:alphaOff val="0"/>
          </a:schemeClr>
        </a:solidFill>
        <a:ln w="15875" cap="flat" cmpd="sng" algn="ctr">
          <a:solidFill>
            <a:schemeClr val="accent3">
              <a:hueOff val="-1371913"/>
              <a:satOff val="8348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815" tIns="43815" rIns="43815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300" kern="1200" dirty="0"/>
            <a:t>Enhanced Efficiency</a:t>
          </a:r>
        </a:p>
      </dsp:txBody>
      <dsp:txXfrm>
        <a:off x="42281" y="1861208"/>
        <a:ext cx="2687042" cy="823693"/>
      </dsp:txXfrm>
    </dsp:sp>
    <dsp:sp modelId="{FE83615C-2107-4138-B365-E20426925944}">
      <dsp:nvSpPr>
        <dsp:cNvPr id="0" name=""/>
        <dsp:cNvSpPr/>
      </dsp:nvSpPr>
      <dsp:spPr>
        <a:xfrm>
          <a:off x="2771604" y="2728200"/>
          <a:ext cx="7888412" cy="8659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005" tIns="40005" rIns="40005" bIns="40005" numCol="1" spcCol="1270" anchor="b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100" kern="1200" dirty="0"/>
            <a:t>Patients don't need to repeatedly provide the same information to different providers or remember their entire medical history.</a:t>
          </a:r>
        </a:p>
      </dsp:txBody>
      <dsp:txXfrm>
        <a:off x="2771604" y="2728200"/>
        <a:ext cx="7888412" cy="865974"/>
      </dsp:txXfrm>
    </dsp:sp>
    <dsp:sp modelId="{461057B0-5B01-4C90-928A-9AA2EB12E617}">
      <dsp:nvSpPr>
        <dsp:cNvPr id="0" name=""/>
        <dsp:cNvSpPr/>
      </dsp:nvSpPr>
      <dsp:spPr>
        <a:xfrm>
          <a:off x="0" y="2728200"/>
          <a:ext cx="2771604" cy="865974"/>
        </a:xfrm>
        <a:prstGeom prst="round2SameRect">
          <a:avLst>
            <a:gd name="adj1" fmla="val 16670"/>
            <a:gd name="adj2" fmla="val 0"/>
          </a:avLst>
        </a:prstGeom>
        <a:solidFill>
          <a:schemeClr val="accent3">
            <a:hueOff val="-2057869"/>
            <a:satOff val="12521"/>
            <a:lumOff val="0"/>
            <a:alphaOff val="0"/>
          </a:schemeClr>
        </a:solidFill>
        <a:ln w="15875" cap="flat" cmpd="sng" algn="ctr">
          <a:solidFill>
            <a:schemeClr val="accent3">
              <a:hueOff val="-2057869"/>
              <a:satOff val="12521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815" tIns="43815" rIns="43815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300" kern="1200" dirty="0"/>
            <a:t>Better Patient Experience</a:t>
          </a:r>
        </a:p>
      </dsp:txBody>
      <dsp:txXfrm>
        <a:off x="42281" y="2770481"/>
        <a:ext cx="2687042" cy="823693"/>
      </dsp:txXfrm>
    </dsp:sp>
    <dsp:sp modelId="{64799A8B-FA7D-44C7-97AE-260B0F8EB778}">
      <dsp:nvSpPr>
        <dsp:cNvPr id="0" name=""/>
        <dsp:cNvSpPr/>
      </dsp:nvSpPr>
      <dsp:spPr>
        <a:xfrm>
          <a:off x="2771604" y="3637473"/>
          <a:ext cx="7888412" cy="8659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005" tIns="40005" rIns="40005" bIns="40005" numCol="1" spcCol="1270" anchor="b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100" kern="1200" dirty="0"/>
            <a:t>The aggregated data could eventually support population health initiatives and medical research </a:t>
          </a:r>
        </a:p>
      </dsp:txBody>
      <dsp:txXfrm>
        <a:off x="2771604" y="3637473"/>
        <a:ext cx="7888412" cy="865974"/>
      </dsp:txXfrm>
    </dsp:sp>
    <dsp:sp modelId="{BC555624-D26A-4622-8B39-4BE4F50CC947}">
      <dsp:nvSpPr>
        <dsp:cNvPr id="0" name=""/>
        <dsp:cNvSpPr/>
      </dsp:nvSpPr>
      <dsp:spPr>
        <a:xfrm>
          <a:off x="0" y="3637473"/>
          <a:ext cx="2771604" cy="865974"/>
        </a:xfrm>
        <a:prstGeom prst="round2SameRect">
          <a:avLst>
            <a:gd name="adj1" fmla="val 16670"/>
            <a:gd name="adj2" fmla="val 0"/>
          </a:avLst>
        </a:prstGeom>
        <a:solidFill>
          <a:schemeClr val="accent3">
            <a:hueOff val="-2743825"/>
            <a:satOff val="16695"/>
            <a:lumOff val="0"/>
            <a:alphaOff val="0"/>
          </a:schemeClr>
        </a:solidFill>
        <a:ln w="15875" cap="flat" cmpd="sng" algn="ctr">
          <a:solidFill>
            <a:schemeClr val="accent3">
              <a:hueOff val="-2743825"/>
              <a:satOff val="16695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815" tIns="43815" rIns="43815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300" kern="1200"/>
            <a:t>Data-Driven Healthcare</a:t>
          </a:r>
          <a:endParaRPr lang="en-CA" sz="2300" kern="1200" dirty="0"/>
        </a:p>
      </dsp:txBody>
      <dsp:txXfrm>
        <a:off x="42281" y="3679754"/>
        <a:ext cx="2687042" cy="823693"/>
      </dsp:txXfrm>
    </dsp:sp>
    <dsp:sp modelId="{C8C5B8A4-4276-4B43-987B-233034592A12}">
      <dsp:nvSpPr>
        <dsp:cNvPr id="0" name=""/>
        <dsp:cNvSpPr/>
      </dsp:nvSpPr>
      <dsp:spPr>
        <a:xfrm>
          <a:off x="2771604" y="4546746"/>
          <a:ext cx="7888412" cy="8659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005" tIns="40005" rIns="40005" bIns="40005" numCol="1" spcCol="1270" anchor="b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Enables doctors to consult each other on patient cases, reducing treatment errors while providing valuable learning opportunities for intern and junior doctors.</a:t>
          </a:r>
          <a:endParaRPr lang="en-CA" sz="2100" kern="1200" dirty="0"/>
        </a:p>
      </dsp:txBody>
      <dsp:txXfrm>
        <a:off x="2771604" y="4546746"/>
        <a:ext cx="7888412" cy="865974"/>
      </dsp:txXfrm>
    </dsp:sp>
    <dsp:sp modelId="{4E68A662-BC8E-485C-9CB8-812E65FF4EE3}">
      <dsp:nvSpPr>
        <dsp:cNvPr id="0" name=""/>
        <dsp:cNvSpPr/>
      </dsp:nvSpPr>
      <dsp:spPr>
        <a:xfrm>
          <a:off x="0" y="4546746"/>
          <a:ext cx="2771604" cy="865974"/>
        </a:xfrm>
        <a:prstGeom prst="round2SameRect">
          <a:avLst>
            <a:gd name="adj1" fmla="val 16670"/>
            <a:gd name="adj2" fmla="val 0"/>
          </a:avLst>
        </a:prstGeom>
        <a:solidFill>
          <a:schemeClr val="accent3">
            <a:hueOff val="-3429781"/>
            <a:satOff val="20869"/>
            <a:lumOff val="0"/>
            <a:alphaOff val="0"/>
          </a:schemeClr>
        </a:solidFill>
        <a:ln w="15875" cap="flat" cmpd="sng" algn="ctr">
          <a:solidFill>
            <a:schemeClr val="accent3">
              <a:hueOff val="-3429781"/>
              <a:satOff val="20869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815" tIns="43815" rIns="43815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 dirty="0"/>
            <a:t>Doctor Collaboration &amp; Medical Education</a:t>
          </a:r>
          <a:endParaRPr lang="en-CA" sz="2300" kern="1200" dirty="0"/>
        </a:p>
      </dsp:txBody>
      <dsp:txXfrm>
        <a:off x="42281" y="4589027"/>
        <a:ext cx="2687042" cy="82369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TabList">
  <dgm:title val="Tab List"/>
  <dgm:desc val="Use to show non-sequential or grouped blocks of information. Works well for lists with a small amount of Level 1 text. The first Level 2 displays next to the Level 1 text  and the remaining Level 2 text appears beneath the Level 1 text."/>
  <dgm:catLst>
    <dgm:cat type="list" pri="4500"/>
    <dgm:cat type="officeonline" pri="11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30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0" srcId="0" destId="10" srcOrd="0" destOrd="0"/>
        <dgm:cxn modelId="41" srcId="10" destId="11" srcOrd="0" destOrd="0"/>
        <dgm:cxn modelId="42" srcId="10" destId="12" srcOrd="0" destOrd="0"/>
        <dgm:cxn modelId="50" srcId="0" destId="20" srcOrd="1" destOrd="0"/>
        <dgm:cxn modelId="51" srcId="20" destId="21" srcOrd="1" destOrd="0"/>
        <dgm:cxn modelId="52" srcId="20" destId="22" srcOrd="1" destOrd="0"/>
        <dgm:cxn modelId="60" srcId="0" destId="30" srcOrd="2" destOrd="0"/>
        <dgm:cxn modelId="61" srcId="30" destId="31" srcOrd="2" destOrd="0"/>
        <dgm:cxn modelId="62" srcId="30" destId="32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/>
      <dgm:chPref val="3"/>
      <dgm:dir/>
      <dgm:animOne val="branch"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w" for="ch" forName="Child" refType="w"/>
      <dgm:constr type="h" for="ch" forName="Child" refType="h" fact="0.6667"/>
      <dgm:constr type="primFontSz" for="des" forName="Parent" op="equ" val="65"/>
      <dgm:constr type="primFontSz" for="des" forName="Child" op="equ" val="65"/>
      <dgm:constr type="primFontSz" for="des" forName="FirstChild" op="equ" val="65"/>
      <dgm:constr type="primFontSz" for="des" forName="Child" refType="primFontSz" refFor="des" refForName="Parent" op="lte"/>
      <dgm:constr type="primFontSz" for="des" forName="FirstChild" refType="primFontSz" refFor="des" refForName="Parent" op="lte"/>
      <dgm:constr type="primFontSz" for="des" forName="Child" refType="primFontSz" refFor="des" refForName="FirstChild" op="lte"/>
      <dgm:constr type="w" for="ch" forName="composite" refType="w"/>
      <dgm:constr type="h" for="ch" forName="composite" refType="h" fact="0.3333"/>
      <dgm:constr type="sp" refType="h" refFor="ch" refForName="composite" op="equ" fact="0.05"/>
      <dgm:constr type="h" for="ch" forName="sibTrans" refType="h" refFor="ch" refForName="composite" op="equ" fact="0.05"/>
      <dgm:constr type="w" for="ch" forName="sibTrans" refType="h" refFor="ch" refForName="sibTrans" op="equ"/>
    </dgm:constrLst>
    <dgm:forEach name="nodesForEach" axis="ch" ptType="node">
      <dgm:layoutNode name="composite">
        <dgm:alg type="composite"/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onstrLst>
              <dgm:constr type="l" for="ch" forName="Accent" refType="w" fact="0"/>
              <dgm:constr type="b" for="ch" forName="Accent" refType="h"/>
              <dgm:constr type="w" for="ch" forName="Accent" refType="w"/>
              <dgm:constr type="h" for="ch" forName="Accent" refType="h" fact="0"/>
              <dgm:constr type="l" for="ch" forName="FirstChild" refType="w" fact="0.26"/>
              <dgm:constr type="t" for="ch" forName="FirstChild" refType="h" fact="0"/>
              <dgm:constr type="w" for="ch" forName="FirstChild" refType="w" fact="0.74"/>
              <dgm:constr type="h" for="ch" forName="FirstChild" refType="h"/>
              <dgm:constr type="l" for="ch" forName="Parent" refType="w" fact="0"/>
              <dgm:constr type="t" for="ch" forName="Parent" refType="h" fact="0"/>
              <dgm:constr type="w" for="ch" forName="Parent" refType="w" fact="0.26"/>
              <dgm:constr type="h" for="ch" forName="Parent" refType="h"/>
            </dgm:constrLst>
          </dgm:if>
          <dgm:else name="Name3">
            <dgm:constrLst>
              <dgm:constr type="l" for="ch" forName="Accent" refType="w" fact="0"/>
              <dgm:constr type="b" for="ch" forName="Accent" refType="h"/>
              <dgm:constr type="w" for="ch" forName="Accent" refType="w"/>
              <dgm:constr type="h" for="ch" forName="Accent" refType="h" fact="0"/>
              <dgm:constr type="r" for="ch" forName="FirstChild" refType="w" fact="0.74"/>
              <dgm:constr type="t" for="ch" forName="FirstChild" refType="h" fact="0"/>
              <dgm:constr type="w" for="ch" forName="FirstChild" refType="w" fact="0.74"/>
              <dgm:constr type="h" for="ch" forName="FirstChild" refType="h"/>
              <dgm:constr type="r" for="ch" forName="Parent" refType="w"/>
              <dgm:constr type="t" for="ch" forName="Parent" refType="h" fact="0"/>
              <dgm:constr type="w" for="ch" forName="Parent" refType="w" fact="0.26"/>
              <dgm:constr type="h" for="ch" forName="Parent" refType="h"/>
            </dgm:constrLst>
          </dgm:else>
        </dgm:choose>
        <dgm:layoutNode name="FirstChild" styleLbl="revTx">
          <dgm:varLst>
            <dgm:chMax val="0"/>
            <dgm:chPref val="0"/>
            <dgm:bulletEnabled val="1"/>
          </dgm:varLst>
          <dgm:choose name="Name4">
            <dgm:if name="Name5" func="var" arg="dir" op="equ" val="norm">
              <dgm:alg type="tx">
                <dgm:param type="parTxLTRAlign" val="l"/>
                <dgm:param type="txAnchorVert" val="b"/>
                <dgm:param type="txAnchorVertCh" val="b"/>
                <dgm:param type="parTxRTLAlign" val="l"/>
              </dgm:alg>
            </dgm:if>
            <dgm:else name="Name6">
              <dgm:alg type="tx">
                <dgm:param type="parTxLTRAlign" val="r"/>
                <dgm:param type="shpTxLTRAlignCh" val="r"/>
                <dgm:param type="txAnchorVert" val="b"/>
                <dgm:param type="txAnchorVertCh" val="b"/>
                <dgm:param type="parTxRTLAlign" val="r"/>
              </dgm:alg>
            </dgm:else>
          </dgm:choose>
          <dgm:shape xmlns:r="http://schemas.openxmlformats.org/officeDocument/2006/relationships" type="rect" r:blip="">
            <dgm:adjLst/>
          </dgm:shape>
          <dgm:choose name="Name7">
            <dgm:if name="Name8" axis="ch" ptType="node" func="cnt" op="gte" val="1">
              <dgm:presOf axis="ch desOrSelf" ptType="node node" st="1 1" cnt="1 0"/>
            </dgm:if>
            <dgm:else name="Name9">
              <dgm:presOf/>
            </dgm:else>
          </dgm:choose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  <dgm:layoutNode name="Parent" styleLbl="alignNode1">
          <dgm:varLst>
            <dgm:chMax val="3"/>
            <dgm:chPref val="3"/>
            <dgm:bulletEnabled val="1"/>
          </dgm:varLst>
          <dgm:alg type="tx">
            <dgm:param type="shpTxLTRAlignCh" val="ctr"/>
            <dgm:param type="txAnchorVertCh" val="mid"/>
          </dgm:alg>
          <dgm:shape xmlns:r="http://schemas.openxmlformats.org/officeDocument/2006/relationships" type="round2SameRect" r:blip="">
            <dgm:adjLst>
              <dgm:adj idx="1" val="0.1667"/>
              <dgm:adj idx="2" val="0"/>
            </dgm:adjLst>
          </dgm:shape>
          <dgm:presOf axis="self" ptType="node"/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  <dgm:layoutNode name="Accent" styleLbl="parChTrans1D1">
          <dgm:alg type="sp"/>
          <dgm:shape xmlns:r="http://schemas.openxmlformats.org/officeDocument/2006/relationships" type="line" r:blip="" zOrderOff="-99999">
            <dgm:adjLst/>
          </dgm:shape>
          <dgm:presOf/>
        </dgm:layoutNode>
      </dgm:layoutNode>
      <dgm:choose name="Name10">
        <dgm:if name="Name11" axis="ch" ptType="node" st="2" cnt="1" func="cnt" op="gte" val="1">
          <dgm:layoutNode name="Child" styleLbl="revTx">
            <dgm:varLst>
              <dgm:chMax val="0"/>
              <dgm:chPref val="0"/>
              <dgm:bulletEnabled val="1"/>
            </dgm:varLst>
            <dgm:choose name="Name12">
              <dgm:if name="Name13" func="var" arg="dir" op="equ" val="norm">
                <dgm:alg type="tx">
                  <dgm:param type="stBulletLvl" val="1"/>
                  <dgm:param type="parTxLTRAlign" val="l"/>
                  <dgm:param type="parTxRTLAlign" val="l"/>
                  <dgm:param type="txAnchorVert" val="t"/>
                </dgm:alg>
              </dgm:if>
              <dgm:else name="Name14">
                <dgm:alg type="tx">
                  <dgm:param type="stBulletLvl" val="1"/>
                  <dgm:param type="parTxLTRAlign" val="r"/>
                  <dgm:param type="shpTxLTRAlignCh" val="r"/>
                  <dgm:param type="txAnchorVert" val="t"/>
                  <dgm:param type="parTxRTLAlign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ch desOrSelf" ptType="node node" st="2 1" cnt="0 0"/>
            <dgm:constrLst>
              <dgm:constr type="lMarg" refType="primFontSz" fact="0.15"/>
              <dgm:constr type="rMarg" refType="primFontSz" fact="0.15"/>
              <dgm:constr type="tMarg" refType="primFontSz" fact="0.15"/>
              <dgm:constr type="bMarg" refType="primFontSz" fact="0.15"/>
            </dgm:constrLst>
            <dgm:ruleLst>
              <dgm:rule type="primFontSz" val="5" fact="NaN" max="NaN"/>
            </dgm:ruleLst>
          </dgm:layoutNode>
        </dgm:if>
        <dgm:else name="Name15"/>
      </dgm:choos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52301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F4574-7FBE-48AD-9C1D-C9B93DB32D0C}" type="datetimeFigureOut">
              <a:rPr lang="en-CA" smtClean="0"/>
              <a:t>2026-08-25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9A1A4-D74F-4B39-A757-1783BBB300F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70849105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F4574-7FBE-48AD-9C1D-C9B93DB32D0C}" type="datetimeFigureOut">
              <a:rPr lang="en-CA" smtClean="0"/>
              <a:t>2026-08-25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9A1A4-D74F-4B39-A757-1783BBB300F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52960975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F4574-7FBE-48AD-9C1D-C9B93DB32D0C}" type="datetimeFigureOut">
              <a:rPr lang="en-CA" smtClean="0"/>
              <a:t>2026-08-25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9A1A4-D74F-4B39-A757-1783BBB300F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5336554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F4574-7FBE-48AD-9C1D-C9B93DB32D0C}" type="datetimeFigureOut">
              <a:rPr lang="en-CA" smtClean="0"/>
              <a:t>2026-08-25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9A1A4-D74F-4B39-A757-1783BBB300F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54409073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F4574-7FBE-48AD-9C1D-C9B93DB32D0C}" type="datetimeFigureOut">
              <a:rPr lang="en-CA" smtClean="0"/>
              <a:t>2026-08-25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9A1A4-D74F-4B39-A757-1783BBB300F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34261236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F4574-7FBE-48AD-9C1D-C9B93DB32D0C}" type="datetimeFigureOut">
              <a:rPr lang="en-CA" smtClean="0"/>
              <a:t>2026-08-25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9A1A4-D74F-4B39-A757-1783BBB300F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667775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F4574-7FBE-48AD-9C1D-C9B93DB32D0C}" type="datetimeFigureOut">
              <a:rPr lang="en-CA" smtClean="0"/>
              <a:t>2026-08-25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9A1A4-D74F-4B39-A757-1783BBB300F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4569138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F4574-7FBE-48AD-9C1D-C9B93DB32D0C}" type="datetimeFigureOut">
              <a:rPr lang="en-CA" smtClean="0"/>
              <a:t>2026-08-25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9A1A4-D74F-4B39-A757-1783BBB300F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15363456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F4574-7FBE-48AD-9C1D-C9B93DB32D0C}" type="datetimeFigureOut">
              <a:rPr lang="en-CA" smtClean="0"/>
              <a:t>2026-08-25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9A1A4-D74F-4B39-A757-1783BBB300F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2732343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F4574-7FBE-48AD-9C1D-C9B93DB32D0C}" type="datetimeFigureOut">
              <a:rPr lang="en-CA" smtClean="0"/>
              <a:t>2026-08-25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9A1A4-D74F-4B39-A757-1783BBB300F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0478137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F4574-7FBE-48AD-9C1D-C9B93DB32D0C}" type="datetimeFigureOut">
              <a:rPr lang="en-CA" smtClean="0"/>
              <a:t>2026-08-25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9A1A4-D74F-4B39-A757-1783BBB300F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7327839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F4574-7FBE-48AD-9C1D-C9B93DB32D0C}" type="datetimeFigureOut">
              <a:rPr lang="en-CA" smtClean="0"/>
              <a:t>2026-08-25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9A1A4-D74F-4B39-A757-1783BBB300F3}" type="slidenum">
              <a:rPr lang="en-CA" smtClean="0"/>
              <a:t>‹#›</a:t>
            </a:fld>
            <a:endParaRPr lang="en-CA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07594606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F4574-7FBE-48AD-9C1D-C9B93DB32D0C}" type="datetimeFigureOut">
              <a:rPr lang="en-CA" smtClean="0"/>
              <a:t>2026-08-25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9A1A4-D74F-4B39-A757-1783BBB300F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82089302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F4574-7FBE-48AD-9C1D-C9B93DB32D0C}" type="datetimeFigureOut">
              <a:rPr lang="en-CA" smtClean="0"/>
              <a:t>2026-08-25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9A1A4-D74F-4B39-A757-1783BBB300F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0449361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F4574-7FBE-48AD-9C1D-C9B93DB32D0C}" type="datetimeFigureOut">
              <a:rPr lang="en-CA" smtClean="0"/>
              <a:t>2026-08-25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9A1A4-D74F-4B39-A757-1783BBB300F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04841298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F4574-7FBE-48AD-9C1D-C9B93DB32D0C}" type="datetimeFigureOut">
              <a:rPr lang="en-CA" smtClean="0"/>
              <a:t>2026-08-25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9A1A4-D74F-4B39-A757-1783BBB300F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63093969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F4574-7FBE-48AD-9C1D-C9B93DB32D0C}" type="datetimeFigureOut">
              <a:rPr lang="en-CA" smtClean="0"/>
              <a:t>2026-08-25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9A1A4-D74F-4B39-A757-1783BBB300F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16229639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07873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926F4574-7FBE-48AD-9C1D-C9B93DB32D0C}" type="datetimeFigureOut">
              <a:rPr lang="en-CA" smtClean="0"/>
              <a:t>2026-08-25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7869A1A4-D74F-4B39-A757-1783BBB300F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017490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5" r:id="rId1"/>
    <p:sldLayoutId id="2147483736" r:id="rId2"/>
    <p:sldLayoutId id="2147483737" r:id="rId3"/>
    <p:sldLayoutId id="2147483738" r:id="rId4"/>
    <p:sldLayoutId id="2147483739" r:id="rId5"/>
    <p:sldLayoutId id="2147483740" r:id="rId6"/>
    <p:sldLayoutId id="2147483741" r:id="rId7"/>
    <p:sldLayoutId id="2147483742" r:id="rId8"/>
    <p:sldLayoutId id="2147483743" r:id="rId9"/>
    <p:sldLayoutId id="2147483744" r:id="rId10"/>
    <p:sldLayoutId id="2147483745" r:id="rId11"/>
    <p:sldLayoutId id="2147483746" r:id="rId12"/>
    <p:sldLayoutId id="2147483747" r:id="rId13"/>
    <p:sldLayoutId id="2147483748" r:id="rId14"/>
    <p:sldLayoutId id="2147483749" r:id="rId15"/>
    <p:sldLayoutId id="2147483750" r:id="rId16"/>
    <p:sldLayoutId id="2147483751" r:id="rId17"/>
    <p:sldLayoutId id="2147483752" r:id="rId18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13" Type="http://schemas.openxmlformats.org/officeDocument/2006/relationships/image" Target="../media/image22.png"/><Relationship Id="rId18" Type="http://schemas.openxmlformats.org/officeDocument/2006/relationships/image" Target="../media/image2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12" Type="http://schemas.openxmlformats.org/officeDocument/2006/relationships/image" Target="../media/image21.svg"/><Relationship Id="rId17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25.sv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5.sv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5" Type="http://schemas.openxmlformats.org/officeDocument/2006/relationships/image" Target="../media/image24.png"/><Relationship Id="rId10" Type="http://schemas.openxmlformats.org/officeDocument/2006/relationships/image" Target="../media/image19.svg"/><Relationship Id="rId4" Type="http://schemas.openxmlformats.org/officeDocument/2006/relationships/image" Target="../media/image13.svg"/><Relationship Id="rId9" Type="http://schemas.openxmlformats.org/officeDocument/2006/relationships/image" Target="../media/image18.png"/><Relationship Id="rId14" Type="http://schemas.openxmlformats.org/officeDocument/2006/relationships/image" Target="../media/image23.sv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000151"/>
            <a:ext cx="6296860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Healthcare Integration Platform with Facial Recognition (HIP-FR)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4055566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 Comprehensive Patient Management System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661475" y="4570611"/>
            <a:ext cx="3445186" cy="287139"/>
          </a:xfrm>
          <a:prstGeom prst="roundRect">
            <a:avLst>
              <a:gd name="adj" fmla="val 22118"/>
            </a:avLst>
          </a:prstGeom>
          <a:solidFill>
            <a:srgbClr val="D2DDF9"/>
          </a:solidFill>
          <a:ln/>
        </p:spPr>
      </p:sp>
      <p:sp>
        <p:nvSpPr>
          <p:cNvPr id="6" name="Text 3"/>
          <p:cNvSpPr/>
          <p:nvPr/>
        </p:nvSpPr>
        <p:spPr>
          <a:xfrm>
            <a:off x="774879" y="4627265"/>
            <a:ext cx="3827962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SOFTWARE ENGINEERING · HEALTHCARE AI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306785"/>
            <a:ext cx="6296860" cy="489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The Continuity-of-Care Problem</a:t>
            </a:r>
            <a:endParaRPr lang="en-US" sz="3050" dirty="0"/>
          </a:p>
        </p:txBody>
      </p:sp>
      <p:sp>
        <p:nvSpPr>
          <p:cNvPr id="4" name="Shape 1"/>
          <p:cNvSpPr/>
          <p:nvPr/>
        </p:nvSpPr>
        <p:spPr>
          <a:xfrm>
            <a:off x="5233360" y="926604"/>
            <a:ext cx="6296860" cy="1105694"/>
          </a:xfrm>
          <a:prstGeom prst="roundRect">
            <a:avLst>
              <a:gd name="adj" fmla="val 5946"/>
            </a:avLst>
          </a:prstGeom>
          <a:solidFill>
            <a:srgbClr val="D2DDF9"/>
          </a:solidFill>
          <a:ln w="6350">
            <a:solidFill>
              <a:srgbClr val="B8C3D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396174" y="1089422"/>
            <a:ext cx="5971232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Fragmented Records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396174" y="1411684"/>
            <a:ext cx="5971232" cy="457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Patient data is distributed across providers, preventing a unified medical history view.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233360" y="2128540"/>
            <a:ext cx="6296860" cy="876796"/>
          </a:xfrm>
          <a:prstGeom prst="roundRect">
            <a:avLst>
              <a:gd name="adj" fmla="val 7498"/>
            </a:avLst>
          </a:prstGeom>
          <a:solidFill>
            <a:srgbClr val="D2DDF9"/>
          </a:solidFill>
          <a:ln w="6350">
            <a:solidFill>
              <a:srgbClr val="B8C3D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396174" y="2291358"/>
            <a:ext cx="5971232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Repeated History Collection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396174" y="2613621"/>
            <a:ext cx="5971232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Patients repeatedly provide the same medical history at every new visit.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233360" y="3134916"/>
            <a:ext cx="6296860" cy="1105694"/>
          </a:xfrm>
          <a:prstGeom prst="roundRect">
            <a:avLst>
              <a:gd name="adj" fmla="val 5946"/>
            </a:avLst>
          </a:prstGeom>
          <a:solidFill>
            <a:srgbClr val="D2DDF9"/>
          </a:solidFill>
          <a:ln w="6350">
            <a:solidFill>
              <a:srgbClr val="B8C3D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96174" y="3297734"/>
            <a:ext cx="5971232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Limited Provider Access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396174" y="3619996"/>
            <a:ext cx="5971232" cy="457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Physicians lack immediate access to prior treatment records from other facilities.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233360" y="4370189"/>
            <a:ext cx="6296860" cy="1105694"/>
          </a:xfrm>
          <a:prstGeom prst="roundRect">
            <a:avLst>
              <a:gd name="adj" fmla="val 5946"/>
            </a:avLst>
          </a:prstGeom>
          <a:solidFill>
            <a:srgbClr val="D2DDF9"/>
          </a:solidFill>
          <a:ln w="6350">
            <a:solidFill>
              <a:srgbClr val="B8C3D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396174" y="4533007"/>
            <a:ext cx="5971232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Patient Misidentification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5396174" y="4855270"/>
            <a:ext cx="5971232" cy="457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Manual identification errors and incomplete records contribute to preventable medical mistakes.</a:t>
            </a:r>
            <a:endParaRPr lang="en-US" sz="1200" dirty="0"/>
          </a:p>
        </p:txBody>
      </p:sp>
      <p:sp>
        <p:nvSpPr>
          <p:cNvPr id="18" name="Shape 10">
            <a:extLst>
              <a:ext uri="{FF2B5EF4-FFF2-40B4-BE49-F238E27FC236}">
                <a16:creationId xmlns:a16="http://schemas.microsoft.com/office/drawing/2014/main" id="{B87A29AF-5CB7-F03B-46BB-273880B6AD53}"/>
              </a:ext>
            </a:extLst>
          </p:cNvPr>
          <p:cNvSpPr/>
          <p:nvPr/>
        </p:nvSpPr>
        <p:spPr>
          <a:xfrm>
            <a:off x="5233360" y="5605462"/>
            <a:ext cx="6296860" cy="1105694"/>
          </a:xfrm>
          <a:prstGeom prst="roundRect">
            <a:avLst>
              <a:gd name="adj" fmla="val 5946"/>
            </a:avLst>
          </a:prstGeom>
          <a:solidFill>
            <a:srgbClr val="D2DDF9"/>
          </a:solidFill>
          <a:ln w="6350">
            <a:solidFill>
              <a:srgbClr val="B8C3DF"/>
            </a:solidFill>
            <a:prstDash val="solid"/>
          </a:ln>
        </p:spPr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F3D1BEB-DC1D-F251-FB31-C691FB6304EE}"/>
              </a:ext>
            </a:extLst>
          </p:cNvPr>
          <p:cNvSpPr txBox="1"/>
          <p:nvPr/>
        </p:nvSpPr>
        <p:spPr>
          <a:xfrm>
            <a:off x="5333790" y="5729883"/>
            <a:ext cx="6096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dirty="0">
                <a:solidFill>
                  <a:schemeClr val="tx2">
                    <a:lumMod val="75000"/>
                  </a:schemeClr>
                </a:solidFill>
                <a:latin typeface="Alexandria" panose="020B0604020202020204" charset="-78"/>
                <a:cs typeface="Alexandria" panose="020B0604020202020204" charset="-78"/>
              </a:rPr>
              <a:t>Previous Treatment Errors: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F6ED3C7-1E85-5E48-E06E-C5B2B67B8334}"/>
              </a:ext>
            </a:extLst>
          </p:cNvPr>
          <p:cNvSpPr txBox="1"/>
          <p:nvPr/>
        </p:nvSpPr>
        <p:spPr>
          <a:xfrm>
            <a:off x="5333790" y="6053048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Nobile" panose="020B0604020202020204" charset="0"/>
              </a:rPr>
              <a:t>Access to complete medical records allows new physicians to identify previous treatment mistakes and make safer, more informed decisions.</a:t>
            </a:r>
            <a:endParaRPr lang="en-CA" sz="1200" dirty="0">
              <a:solidFill>
                <a:schemeClr val="tx2">
                  <a:lumMod val="75000"/>
                </a:schemeClr>
              </a:solidFill>
              <a:latin typeface="Nobile" panose="020B06040202020202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1773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HIP-FR: The Proposed Solution</a:t>
            </a:r>
            <a:endParaRPr lang="en-US" sz="3700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F33E2C7C-4E64-3B6B-6E96-9907BEB9E441}"/>
              </a:ext>
            </a:extLst>
          </p:cNvPr>
          <p:cNvGrpSpPr/>
          <p:nvPr/>
        </p:nvGrpSpPr>
        <p:grpSpPr>
          <a:xfrm>
            <a:off x="1214903" y="1503710"/>
            <a:ext cx="9761789" cy="3533874"/>
            <a:chOff x="1214903" y="1503710"/>
            <a:chExt cx="9761789" cy="3533874"/>
          </a:xfrm>
        </p:grpSpPr>
        <p:pic>
          <p:nvPicPr>
            <p:cNvPr id="3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14903" y="1503710"/>
              <a:ext cx="9761789" cy="3533874"/>
            </a:xfrm>
            <a:prstGeom prst="rect">
              <a:avLst/>
            </a:prstGeom>
          </p:spPr>
        </p:pic>
        <p:sp>
          <p:nvSpPr>
            <p:cNvPr id="4" name="Text 1"/>
            <p:cNvSpPr/>
            <p:nvPr/>
          </p:nvSpPr>
          <p:spPr>
            <a:xfrm>
              <a:off x="1931494" y="4257664"/>
              <a:ext cx="2445424" cy="30568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900" dirty="0">
                  <a:solidFill>
                    <a:srgbClr val="FFFFFF"/>
                  </a:solidFill>
                  <a:latin typeface="Alexandria" pitchFamily="34" charset="0"/>
                  <a:ea typeface="Alexandria" pitchFamily="34" charset="-122"/>
                  <a:cs typeface="Alexandria" pitchFamily="34" charset="-120"/>
                </a:rPr>
                <a:t>Outcome</a:t>
              </a:r>
              <a:endParaRPr lang="en-US" sz="1900" dirty="0"/>
            </a:p>
          </p:txBody>
        </p:sp>
        <p:sp>
          <p:nvSpPr>
            <p:cNvPr id="5" name="Text 2"/>
            <p:cNvSpPr/>
            <p:nvPr/>
          </p:nvSpPr>
          <p:spPr>
            <a:xfrm>
              <a:off x="1931494" y="3192520"/>
              <a:ext cx="2445424" cy="30568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900" dirty="0">
                  <a:solidFill>
                    <a:srgbClr val="FFFFFF"/>
                  </a:solidFill>
                  <a:latin typeface="Alexandria" pitchFamily="34" charset="0"/>
                  <a:ea typeface="Alexandria" pitchFamily="34" charset="-122"/>
                  <a:cs typeface="Alexandria" pitchFamily="34" charset="-120"/>
                </a:rPr>
                <a:t>HIP‑FR Platform</a:t>
              </a:r>
              <a:endParaRPr lang="en-US" sz="1900" dirty="0"/>
            </a:p>
          </p:txBody>
        </p:sp>
        <p:sp>
          <p:nvSpPr>
            <p:cNvPr id="6" name="Text 3"/>
            <p:cNvSpPr/>
            <p:nvPr/>
          </p:nvSpPr>
          <p:spPr>
            <a:xfrm>
              <a:off x="1931494" y="2116506"/>
              <a:ext cx="2445424" cy="30568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900" dirty="0">
                  <a:solidFill>
                    <a:srgbClr val="FFFFFF"/>
                  </a:solidFill>
                  <a:latin typeface="Alexandria" pitchFamily="34" charset="0"/>
                  <a:ea typeface="Alexandria" pitchFamily="34" charset="-122"/>
                  <a:cs typeface="Alexandria" pitchFamily="34" charset="-120"/>
                </a:rPr>
                <a:t>Problem</a:t>
              </a:r>
              <a:endParaRPr lang="en-US" sz="1900" dirty="0"/>
            </a:p>
          </p:txBody>
        </p:sp>
      </p:grpSp>
      <p:sp>
        <p:nvSpPr>
          <p:cNvPr id="7" name="Text 4"/>
          <p:cNvSpPr/>
          <p:nvPr/>
        </p:nvSpPr>
        <p:spPr>
          <a:xfrm>
            <a:off x="661475" y="5196752"/>
            <a:ext cx="1086874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HIP-FR is a centralized healthcare integration platform that uses </a:t>
            </a:r>
            <a:r>
              <a:rPr lang="en-US" sz="145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facial recognition</a:t>
            </a: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for patient identification, integrates </a:t>
            </a:r>
            <a:r>
              <a:rPr lang="en-US" sz="145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Electronic Health Records (EHR)</a:t>
            </a: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across providers, and ensures authorized clinicians have secure, real-time access to complete medical histories.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DB07B912-1BF9-48C9-8ADB-B739AF9360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25421976"/>
              </p:ext>
            </p:extLst>
          </p:nvPr>
        </p:nvGraphicFramePr>
        <p:xfrm>
          <a:off x="626291" y="1280160"/>
          <a:ext cx="10660017" cy="54131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FC4D4973-030F-A851-EED5-D086EA9EA33D}"/>
              </a:ext>
            </a:extLst>
          </p:cNvPr>
          <p:cNvSpPr txBox="1"/>
          <p:nvPr/>
        </p:nvSpPr>
        <p:spPr>
          <a:xfrm>
            <a:off x="626291" y="604582"/>
            <a:ext cx="2815409" cy="46166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CA" sz="2400" b="1" i="0" dirty="0">
                <a:solidFill>
                  <a:srgbClr val="01054C"/>
                </a:solidFill>
                <a:effectLst/>
                <a:latin typeface="Roboto" panose="02000000000000000000" pitchFamily="2" charset="0"/>
              </a:rPr>
              <a:t>Potential</a:t>
            </a:r>
            <a:endParaRPr lang="en-CA" sz="2400" dirty="0"/>
          </a:p>
        </p:txBody>
      </p:sp>
    </p:spTree>
    <p:extLst>
      <p:ext uri="{BB962C8B-B14F-4D97-AF65-F5344CB8AC3E}">
        <p14:creationId xmlns:p14="http://schemas.microsoft.com/office/powerpoint/2010/main" val="24050839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How HIP-FR Works: Patient Journey</a:t>
            </a:r>
            <a:endParaRPr lang="en-US" sz="18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4CE6CE5-5BA9-5C9E-FDD9-FF719A855E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15083"/>
            <a:ext cx="12192000" cy="591591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5430" y="845790"/>
            <a:ext cx="10868745" cy="304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System Architecture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655430" y="1345704"/>
            <a:ext cx="5643770" cy="1270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14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HIP-FR uses a </a:t>
            </a:r>
            <a:r>
              <a:rPr lang="en-US" sz="140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five-layer architecture</a:t>
            </a:r>
            <a:r>
              <a:rPr lang="en-US" sz="14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separating concerns across the full stack — from user-facing portals to secure external integrations — ensuring scalability, security, and interoperability.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1130" y="2387602"/>
            <a:ext cx="6164470" cy="3657600"/>
          </a:xfrm>
          <a:prstGeom prst="rect">
            <a:avLst/>
          </a:prstGeom>
          <a:noFill/>
          <a:ln/>
        </p:spPr>
        <p:txBody>
          <a:bodyPr wrap="square" lIns="0" tIns="38985" rIns="0" bIns="0" rtlCol="0" anchor="t">
            <a:normAutofit/>
          </a:bodyPr>
          <a:lstStyle/>
          <a:p>
            <a:pPr marL="152400" indent="-152400" algn="l">
              <a:lnSpc>
                <a:spcPct val="101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User Interface Layer</a:t>
            </a:r>
            <a:r>
              <a:rPr lang="en-US" sz="14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Patient, Doctor, and Administrator portals</a:t>
            </a:r>
            <a:endParaRPr lang="en-US" sz="1400" dirty="0"/>
          </a:p>
          <a:p>
            <a:pPr marL="152400" indent="-152400" algn="l">
              <a:lnSpc>
                <a:spcPct val="101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Application Layer</a:t>
            </a:r>
            <a:r>
              <a:rPr lang="en-US" sz="14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Facial Recognition Engine, Authentication Service, Health Record Management, Doctor collaboration platform, medical education Module</a:t>
            </a:r>
            <a:endParaRPr lang="en-US" sz="1400" dirty="0"/>
          </a:p>
          <a:p>
            <a:pPr marL="152400" indent="-152400" algn="l">
              <a:lnSpc>
                <a:spcPct val="101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Data Storage Layer</a:t>
            </a:r>
            <a:r>
              <a:rPr lang="en-US" sz="14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Biometric database, Medical records database, Professional/Educational Database</a:t>
            </a:r>
            <a:endParaRPr lang="en-US" sz="1400" dirty="0"/>
          </a:p>
          <a:p>
            <a:pPr marL="152400" indent="-152400" algn="l">
              <a:lnSpc>
                <a:spcPct val="101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Integration Layer</a:t>
            </a:r>
            <a:r>
              <a:rPr lang="en-US" sz="14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Hospital, Laboratory, Radiology, and Pharmacy systems</a:t>
            </a:r>
            <a:endParaRPr lang="en-US" sz="1400" dirty="0"/>
          </a:p>
          <a:p>
            <a:pPr marL="152400" indent="-152400" algn="l">
              <a:lnSpc>
                <a:spcPct val="101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Security Layer</a:t>
            </a:r>
            <a:r>
              <a:rPr lang="en-US" sz="14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Encryption, Access control, Audit logging, Compliance</a:t>
            </a:r>
            <a:endParaRPr lang="en-US" sz="1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29D0718-9078-7F0F-B3E3-E579F7FE86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9900" y="349978"/>
            <a:ext cx="5080000" cy="611432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22523"/>
            <a:ext cx="10868745" cy="489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Registration, Biometric Enrollment &amp; Facial Recognition</a:t>
            </a:r>
            <a:endParaRPr lang="en-US" sz="3050" dirty="0"/>
          </a:p>
        </p:txBody>
      </p:sp>
      <p:sp>
        <p:nvSpPr>
          <p:cNvPr id="4" name="Text 1"/>
          <p:cNvSpPr/>
          <p:nvPr/>
        </p:nvSpPr>
        <p:spPr>
          <a:xfrm>
            <a:off x="7980659" y="1635621"/>
            <a:ext cx="3555812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Biometric Enrollment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7980659" y="2009775"/>
            <a:ext cx="3555812" cy="1738313"/>
          </a:xfrm>
          <a:prstGeom prst="rect">
            <a:avLst/>
          </a:prstGeom>
          <a:noFill/>
          <a:ln/>
        </p:spPr>
        <p:txBody>
          <a:bodyPr wrap="square" lIns="0" tIns="62612" rIns="0" bIns="0" rtlCol="0" anchor="t">
            <a:normAutofit/>
          </a:bodyPr>
          <a:lstStyle/>
          <a:p>
            <a:pPr marL="243840" indent="-243840" algn="l">
              <a:lnSpc>
                <a:spcPct val="122000"/>
              </a:lnSpc>
              <a:buSzPct val="100000"/>
              <a:buChar char="•"/>
            </a:pP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Facial image capture from multiple angles</a:t>
            </a:r>
            <a:endParaRPr lang="en-US" sz="1200" dirty="0"/>
          </a:p>
          <a:p>
            <a:pPr marL="243840" indent="-243840" algn="l">
              <a:lnSpc>
                <a:spcPct val="122000"/>
              </a:lnSpc>
              <a:buSzPct val="100000"/>
              <a:buChar char="•"/>
            </a:pP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Demographic data, medical history, allergies, and medications</a:t>
            </a:r>
            <a:endParaRPr lang="en-US" sz="1200" dirty="0"/>
          </a:p>
          <a:p>
            <a:pPr marL="243840" indent="-243840" algn="l">
              <a:lnSpc>
                <a:spcPct val="122000"/>
              </a:lnSpc>
              <a:buSzPct val="100000"/>
              <a:buChar char="•"/>
            </a:pP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Duplicate patient prevention via record matching</a:t>
            </a:r>
            <a:endParaRPr lang="en-US" sz="1200" dirty="0"/>
          </a:p>
          <a:p>
            <a:pPr marL="243840" indent="-243840" algn="l">
              <a:lnSpc>
                <a:spcPct val="122000"/>
              </a:lnSpc>
              <a:buSzPct val="100000"/>
              <a:buChar char="•"/>
            </a:pP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Patient consent and biometric-data handling protocols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980659" y="3877667"/>
            <a:ext cx="3555812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Recognition Pipeline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980659" y="4251821"/>
            <a:ext cx="3555812" cy="1738313"/>
          </a:xfrm>
          <a:prstGeom prst="rect">
            <a:avLst/>
          </a:prstGeom>
          <a:noFill/>
          <a:ln/>
        </p:spPr>
        <p:txBody>
          <a:bodyPr wrap="square" lIns="0" tIns="62612" rIns="0" bIns="0" rtlCol="0" anchor="t">
            <a:normAutofit/>
          </a:bodyPr>
          <a:lstStyle/>
          <a:p>
            <a:pPr marL="243840" indent="-243840" algn="l">
              <a:lnSpc>
                <a:spcPct val="122000"/>
              </a:lnSpc>
              <a:buSzPct val="100000"/>
              <a:buChar char="•"/>
            </a:pP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Face detection → Feature extraction → Embedding generation</a:t>
            </a:r>
            <a:endParaRPr lang="en-US" sz="1200" dirty="0"/>
          </a:p>
          <a:p>
            <a:pPr marL="243840" indent="-243840" algn="l">
              <a:lnSpc>
                <a:spcPct val="122000"/>
              </a:lnSpc>
              <a:buSzPct val="100000"/>
              <a:buChar char="•"/>
            </a:pP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Database matching with confidence scoring</a:t>
            </a:r>
            <a:endParaRPr lang="en-US" sz="1200" dirty="0"/>
          </a:p>
          <a:p>
            <a:pPr marL="243840" indent="-243840" algn="l">
              <a:lnSpc>
                <a:spcPct val="122000"/>
              </a:lnSpc>
              <a:buSzPct val="100000"/>
              <a:buChar char="•"/>
            </a:pP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Multi-factor authentication for ambiguous or partial matches</a:t>
            </a:r>
            <a:endParaRPr lang="en-US" sz="1200" dirty="0"/>
          </a:p>
          <a:p>
            <a:pPr marL="243840" indent="-243840" algn="l">
              <a:lnSpc>
                <a:spcPct val="122000"/>
              </a:lnSpc>
              <a:buSzPct val="100000"/>
              <a:buChar char="•"/>
            </a:pP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Technologies: OpenCV, DLib, FaceNet, OpenFace</a:t>
            </a:r>
            <a:endParaRPr lang="en-US" sz="12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E55FE6E-5502-1912-DBE8-A8C67C078D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3595" y="1757908"/>
            <a:ext cx="6095493" cy="40957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08025"/>
            <a:ext cx="10868745" cy="489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Electronic Health Records &amp; Provider Connectivity</a:t>
            </a:r>
            <a:endParaRPr lang="en-US" sz="30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806873"/>
            <a:ext cx="6501325" cy="39276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421859" y="1534022"/>
            <a:ext cx="3555812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EHR Capabilities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7421858" y="1908176"/>
            <a:ext cx="4770142" cy="1738313"/>
          </a:xfrm>
          <a:prstGeom prst="rect">
            <a:avLst/>
          </a:prstGeom>
          <a:noFill/>
          <a:ln/>
        </p:spPr>
        <p:txBody>
          <a:bodyPr wrap="square" lIns="0" tIns="62612" rIns="0" bIns="0" rtlCol="0" anchor="t">
            <a:normAutofit/>
          </a:bodyPr>
          <a:lstStyle/>
          <a:p>
            <a:pPr marL="243840" indent="-243840" algn="l">
              <a:lnSpc>
                <a:spcPct val="122000"/>
              </a:lnSpc>
              <a:buSzPct val="100000"/>
              <a:buChar char="•"/>
            </a:pPr>
            <a:r>
              <a:rPr lang="en-US" sz="14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Complete patient profile with diagnosis and treatment history</a:t>
            </a:r>
            <a:endParaRPr lang="en-US" sz="1400" dirty="0"/>
          </a:p>
          <a:p>
            <a:pPr marL="243840" indent="-243840" algn="l">
              <a:lnSpc>
                <a:spcPct val="122000"/>
              </a:lnSpc>
              <a:buSzPct val="100000"/>
              <a:buChar char="•"/>
            </a:pPr>
            <a:r>
              <a:rPr lang="en-US" sz="14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Medications, allergies, lab results, and imaging studies</a:t>
            </a:r>
            <a:endParaRPr lang="en-US" sz="1400" dirty="0"/>
          </a:p>
          <a:p>
            <a:pPr marL="243840" indent="-243840" algn="l">
              <a:lnSpc>
                <a:spcPct val="122000"/>
              </a:lnSpc>
              <a:buSzPct val="100000"/>
              <a:buChar char="•"/>
            </a:pPr>
            <a:r>
              <a:rPr lang="en-US" sz="14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Digital prescriptions, test ordering, and clinical alerts</a:t>
            </a:r>
            <a:endParaRPr lang="en-US" sz="1400" dirty="0"/>
          </a:p>
          <a:p>
            <a:pPr marL="243840" indent="-243840" algn="l">
              <a:lnSpc>
                <a:spcPct val="122000"/>
              </a:lnSpc>
              <a:buSzPct val="100000"/>
              <a:buChar char="•"/>
            </a:pPr>
            <a:r>
              <a:rPr lang="en-US" sz="14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Full treatment timeline with visit summaries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421859" y="3885456"/>
            <a:ext cx="3555812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Provider Network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421858" y="4182765"/>
            <a:ext cx="4770141" cy="1967210"/>
          </a:xfrm>
          <a:prstGeom prst="rect">
            <a:avLst/>
          </a:prstGeom>
          <a:noFill/>
          <a:ln/>
        </p:spPr>
        <p:txBody>
          <a:bodyPr wrap="square" lIns="0" tIns="62612" rIns="0" bIns="0" rtlCol="0" anchor="t">
            <a:normAutofit/>
          </a:bodyPr>
          <a:lstStyle/>
          <a:p>
            <a:pPr marL="243840" indent="-243840" algn="l">
              <a:lnSpc>
                <a:spcPct val="122000"/>
              </a:lnSpc>
              <a:buSzPct val="100000"/>
              <a:buChar char="•"/>
            </a:pPr>
            <a:r>
              <a:rPr lang="en-US" sz="14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Secure doctor network with referral management</a:t>
            </a:r>
            <a:endParaRPr lang="en-US" sz="1400" dirty="0"/>
          </a:p>
          <a:p>
            <a:pPr marL="243840" indent="-243840" algn="l">
              <a:lnSpc>
                <a:spcPct val="122000"/>
              </a:lnSpc>
              <a:buSzPct val="100000"/>
              <a:buChar char="•"/>
            </a:pPr>
            <a:r>
              <a:rPr lang="en-US" sz="14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Automatic transfer of relevant patient information</a:t>
            </a:r>
            <a:endParaRPr lang="en-US" sz="1400" dirty="0"/>
          </a:p>
          <a:p>
            <a:pPr marL="243840" indent="-243840" algn="l">
              <a:lnSpc>
                <a:spcPct val="122000"/>
              </a:lnSpc>
              <a:buSzPct val="100000"/>
              <a:buChar char="•"/>
            </a:pPr>
            <a:r>
              <a:rPr lang="en-US" sz="14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Doctor-to-doctor communication and follow-up alerts</a:t>
            </a:r>
            <a:endParaRPr lang="en-US" sz="1400" dirty="0"/>
          </a:p>
          <a:p>
            <a:pPr marL="243840" indent="-243840" algn="l">
              <a:lnSpc>
                <a:spcPct val="122000"/>
              </a:lnSpc>
              <a:buSzPct val="100000"/>
              <a:buChar char="•"/>
            </a:pPr>
            <a:r>
              <a:rPr lang="en-US" sz="14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Continuity of care across specialists, hospitals, and labs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4768"/>
            <a:ext cx="10868745" cy="304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Security, Privacy &amp; Healthcare Integration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655430" y="1302072"/>
            <a:ext cx="5315512" cy="398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Security &amp; Privacy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55430" y="1663750"/>
            <a:ext cx="5315512" cy="1402656"/>
          </a:xfrm>
          <a:prstGeom prst="rect">
            <a:avLst/>
          </a:prstGeom>
          <a:noFill/>
          <a:ln/>
        </p:spPr>
        <p:txBody>
          <a:bodyPr wrap="square" lIns="0" tIns="38985" rIns="0" bIns="0" rtlCol="0" anchor="t">
            <a:normAutofit fontScale="92500" lnSpcReduction="10000"/>
          </a:bodyPr>
          <a:lstStyle/>
          <a:p>
            <a:pPr marL="152400" indent="-152400" algn="l">
              <a:lnSpc>
                <a:spcPct val="101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Biometric and medical data stored separately</a:t>
            </a:r>
            <a:endParaRPr lang="en-US" sz="1600" dirty="0"/>
          </a:p>
          <a:p>
            <a:pPr marL="152400" indent="-152400" algn="l">
              <a:lnSpc>
                <a:spcPct val="101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End-to-end encryption in transit and at rest</a:t>
            </a:r>
            <a:endParaRPr lang="en-US" sz="1600" dirty="0"/>
          </a:p>
          <a:p>
            <a:pPr marL="152400" indent="-152400" algn="l">
              <a:lnSpc>
                <a:spcPct val="101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Role-based access control (RBAC)</a:t>
            </a:r>
            <a:endParaRPr lang="en-US" sz="1600" dirty="0"/>
          </a:p>
          <a:p>
            <a:pPr marL="152400" indent="-152400" algn="l">
              <a:lnSpc>
                <a:spcPct val="101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Immutable audit trails and backup/recovery</a:t>
            </a:r>
            <a:endParaRPr lang="en-US" sz="1600" dirty="0"/>
          </a:p>
          <a:p>
            <a:pPr marL="152400" indent="-152400" algn="l">
              <a:lnSpc>
                <a:spcPct val="101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Patient consent management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53830" y="3196233"/>
            <a:ext cx="5315512" cy="304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Healthcare Integration Standards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55430" y="3617417"/>
            <a:ext cx="5315512" cy="1716583"/>
          </a:xfrm>
          <a:prstGeom prst="rect">
            <a:avLst/>
          </a:prstGeom>
          <a:noFill/>
          <a:ln/>
        </p:spPr>
        <p:txBody>
          <a:bodyPr wrap="square" lIns="0" tIns="38985" rIns="0" bIns="0" rtlCol="0" anchor="t">
            <a:normAutofit/>
          </a:bodyPr>
          <a:lstStyle/>
          <a:p>
            <a:pPr marL="152400" indent="-152400" algn="l">
              <a:lnSpc>
                <a:spcPct val="101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HL7</a:t>
            </a:r>
            <a:r>
              <a:rPr lang="en-US" sz="14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Clinical messaging between systems</a:t>
            </a:r>
            <a:endParaRPr lang="en-US" sz="1400" dirty="0"/>
          </a:p>
          <a:p>
            <a:pPr marL="152400" indent="-152400" algn="l">
              <a:lnSpc>
                <a:spcPct val="101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FHIR</a:t>
            </a:r>
            <a:r>
              <a:rPr lang="en-US" sz="14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Modern RESTful healthcare data exchange</a:t>
            </a:r>
            <a:endParaRPr lang="en-US" sz="1400" dirty="0"/>
          </a:p>
          <a:p>
            <a:pPr marL="152400" indent="-152400" algn="l">
              <a:lnSpc>
                <a:spcPct val="101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DICOM</a:t>
            </a:r>
            <a:r>
              <a:rPr lang="en-US" sz="14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Medical imaging interoperability</a:t>
            </a:r>
            <a:endParaRPr lang="en-US" sz="1400" dirty="0"/>
          </a:p>
          <a:p>
            <a:pPr marL="152400" indent="-152400" algn="l">
              <a:lnSpc>
                <a:spcPct val="101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Secure APIs connecting labs, radiology, and pharmacy</a:t>
            </a:r>
            <a:endParaRPr lang="en-US" sz="14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1058" y="961132"/>
            <a:ext cx="5315512" cy="531564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8205"/>
            <a:ext cx="10868745" cy="406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Benefits &amp; Challenges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661475" y="999927"/>
            <a:ext cx="10868745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Key Benefits</a:t>
            </a:r>
            <a:endParaRPr lang="en-US" sz="12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1336873"/>
            <a:ext cx="259847" cy="25985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1708348"/>
            <a:ext cx="5378514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Continuity of Care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661475" y="1964928"/>
            <a:ext cx="5378514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Unified records follow patients across all providers.</a:t>
            </a:r>
            <a:endParaRPr lang="en-US" sz="10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51607" y="1336873"/>
            <a:ext cx="259847" cy="25985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51607" y="1708348"/>
            <a:ext cx="5378613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Fewer Medical Errors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6151607" y="1964928"/>
            <a:ext cx="5378613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Accurate biometric ID reduces misidentification risks.</a:t>
            </a:r>
            <a:endParaRPr lang="en-US" sz="10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475" y="2318941"/>
            <a:ext cx="259847" cy="25985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61475" y="2690416"/>
            <a:ext cx="5378514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Faster Check-In</a:t>
            </a:r>
            <a:endParaRPr lang="en-US" sz="1250" dirty="0"/>
          </a:p>
        </p:txBody>
      </p:sp>
      <p:sp>
        <p:nvSpPr>
          <p:cNvPr id="12" name="Text 7"/>
          <p:cNvSpPr/>
          <p:nvPr/>
        </p:nvSpPr>
        <p:spPr>
          <a:xfrm>
            <a:off x="661475" y="2946995"/>
            <a:ext cx="5378514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Facial recognition eliminates manual registration delays.</a:t>
            </a:r>
            <a:endParaRPr lang="en-US" sz="10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151607" y="2318941"/>
            <a:ext cx="259847" cy="25985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151607" y="2690416"/>
            <a:ext cx="5378613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Less Redundant Data</a:t>
            </a:r>
            <a:endParaRPr lang="en-US" sz="1250" dirty="0"/>
          </a:p>
        </p:txBody>
      </p:sp>
      <p:sp>
        <p:nvSpPr>
          <p:cNvPr id="15" name="Text 9"/>
          <p:cNvSpPr/>
          <p:nvPr/>
        </p:nvSpPr>
        <p:spPr>
          <a:xfrm>
            <a:off x="6151607" y="2946995"/>
            <a:ext cx="5378613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Prior history auto-retrieved, reducing repeated collection.</a:t>
            </a:r>
            <a:endParaRPr lang="en-US" sz="10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61475" y="3301008"/>
            <a:ext cx="259847" cy="259854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61475" y="3672483"/>
            <a:ext cx="5378514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Better Patient Experience</a:t>
            </a:r>
            <a:endParaRPr lang="en-US" sz="1250" dirty="0"/>
          </a:p>
        </p:txBody>
      </p:sp>
      <p:sp>
        <p:nvSpPr>
          <p:cNvPr id="18" name="Text 11"/>
          <p:cNvSpPr/>
          <p:nvPr/>
        </p:nvSpPr>
        <p:spPr>
          <a:xfrm>
            <a:off x="661475" y="3929062"/>
            <a:ext cx="5378514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Streamlined visits and personalized care.</a:t>
            </a:r>
            <a:endParaRPr lang="en-US" sz="10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151607" y="3301008"/>
            <a:ext cx="259847" cy="259854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6151607" y="3672483"/>
            <a:ext cx="5378613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Data-Driven Healthcare</a:t>
            </a:r>
            <a:endParaRPr lang="en-US" sz="1250" dirty="0"/>
          </a:p>
        </p:txBody>
      </p:sp>
      <p:sp>
        <p:nvSpPr>
          <p:cNvPr id="21" name="Text 13"/>
          <p:cNvSpPr/>
          <p:nvPr/>
        </p:nvSpPr>
        <p:spPr>
          <a:xfrm>
            <a:off x="6151607" y="3929062"/>
            <a:ext cx="5378613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Aggregated records support research and population health.</a:t>
            </a:r>
            <a:endParaRPr lang="en-US" sz="1000" dirty="0"/>
          </a:p>
        </p:txBody>
      </p:sp>
      <p:sp>
        <p:nvSpPr>
          <p:cNvPr id="22" name="Text 14"/>
          <p:cNvSpPr/>
          <p:nvPr/>
        </p:nvSpPr>
        <p:spPr>
          <a:xfrm>
            <a:off x="661475" y="4238427"/>
            <a:ext cx="10868745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Challenges &amp; Risks</a:t>
            </a:r>
            <a:endParaRPr lang="en-US" sz="1250" dirty="0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61475" y="4575373"/>
            <a:ext cx="3563352" cy="729853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886597" y="4724301"/>
            <a:ext cx="3189307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Privacy &amp; Compliance</a:t>
            </a:r>
            <a:endParaRPr lang="en-US" sz="1250" dirty="0"/>
          </a:p>
        </p:txBody>
      </p:sp>
      <p:sp>
        <p:nvSpPr>
          <p:cNvPr id="25" name="Text 16"/>
          <p:cNvSpPr/>
          <p:nvPr/>
        </p:nvSpPr>
        <p:spPr>
          <a:xfrm>
            <a:off x="886597" y="4980880"/>
            <a:ext cx="3189307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Navigating HIPAA and biometric data regulations.</a:t>
            </a:r>
            <a:endParaRPr lang="en-US" sz="1000" dirty="0"/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314122" y="4575373"/>
            <a:ext cx="3563352" cy="729853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4539243" y="4724301"/>
            <a:ext cx="3189307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Recognition Accuracy</a:t>
            </a:r>
            <a:endParaRPr lang="en-US" sz="1250" dirty="0"/>
          </a:p>
        </p:txBody>
      </p:sp>
      <p:sp>
        <p:nvSpPr>
          <p:cNvPr id="28" name="Text 18"/>
          <p:cNvSpPr/>
          <p:nvPr/>
        </p:nvSpPr>
        <p:spPr>
          <a:xfrm>
            <a:off x="4539243" y="4980880"/>
            <a:ext cx="3189307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Ensuring reliability across diverse populations.</a:t>
            </a:r>
            <a:endParaRPr lang="en-US" sz="1000" dirty="0"/>
          </a:p>
        </p:txBody>
      </p:sp>
      <p:pic>
        <p:nvPicPr>
          <p:cNvPr id="29" name="Image 8" descr="preencoded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966769" y="4575373"/>
            <a:ext cx="3563352" cy="729853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8191890" y="4724301"/>
            <a:ext cx="3189307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System Integration</a:t>
            </a:r>
            <a:endParaRPr lang="en-US" sz="1250" dirty="0"/>
          </a:p>
        </p:txBody>
      </p:sp>
      <p:sp>
        <p:nvSpPr>
          <p:cNvPr id="31" name="Text 20"/>
          <p:cNvSpPr/>
          <p:nvPr/>
        </p:nvSpPr>
        <p:spPr>
          <a:xfrm>
            <a:off x="8191890" y="4980880"/>
            <a:ext cx="3189307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Connecting with legacy hospital infrastructure.</a:t>
            </a:r>
            <a:endParaRPr lang="en-US" sz="1000" dirty="0"/>
          </a:p>
        </p:txBody>
      </p:sp>
      <p:pic>
        <p:nvPicPr>
          <p:cNvPr id="32" name="Image 9" descr="preencoded.png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61475" y="5394523"/>
            <a:ext cx="3563352" cy="905272"/>
          </a:xfrm>
          <a:prstGeom prst="rect">
            <a:avLst/>
          </a:prstGeom>
        </p:spPr>
      </p:pic>
      <p:sp>
        <p:nvSpPr>
          <p:cNvPr id="33" name="Text 21"/>
          <p:cNvSpPr/>
          <p:nvPr/>
        </p:nvSpPr>
        <p:spPr>
          <a:xfrm>
            <a:off x="886597" y="5543451"/>
            <a:ext cx="3189307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User Adoption</a:t>
            </a:r>
            <a:endParaRPr lang="en-US" sz="1250" dirty="0"/>
          </a:p>
        </p:txBody>
      </p:sp>
      <p:sp>
        <p:nvSpPr>
          <p:cNvPr id="34" name="Text 22"/>
          <p:cNvSpPr/>
          <p:nvPr/>
        </p:nvSpPr>
        <p:spPr>
          <a:xfrm>
            <a:off x="886597" y="5800030"/>
            <a:ext cx="3189307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Training staff and building patient trust.</a:t>
            </a:r>
            <a:endParaRPr lang="en-US" sz="1000" dirty="0"/>
          </a:p>
        </p:txBody>
      </p:sp>
      <p:pic>
        <p:nvPicPr>
          <p:cNvPr id="35" name="Image 10" descr="preencoded.png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314122" y="5394523"/>
            <a:ext cx="3563352" cy="905272"/>
          </a:xfrm>
          <a:prstGeom prst="rect">
            <a:avLst/>
          </a:prstGeom>
        </p:spPr>
      </p:pic>
      <p:sp>
        <p:nvSpPr>
          <p:cNvPr id="36" name="Text 23"/>
          <p:cNvSpPr/>
          <p:nvPr/>
        </p:nvSpPr>
        <p:spPr>
          <a:xfrm>
            <a:off x="4539243" y="5543451"/>
            <a:ext cx="3189307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Infrastructure Requirements</a:t>
            </a:r>
            <a:endParaRPr lang="en-US" sz="1250" dirty="0"/>
          </a:p>
        </p:txBody>
      </p:sp>
      <p:sp>
        <p:nvSpPr>
          <p:cNvPr id="37" name="Text 24"/>
          <p:cNvSpPr/>
          <p:nvPr/>
        </p:nvSpPr>
        <p:spPr>
          <a:xfrm>
            <a:off x="4539243" y="5800030"/>
            <a:ext cx="3189307" cy="3508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Cameras, servers, and reliable network connectivity.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0366"/>
            <a:ext cx="10868745" cy="479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Implementation Roadmap &amp; Conclusion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1475" y="2654102"/>
            <a:ext cx="10868745" cy="19050"/>
          </a:xfrm>
          <a:prstGeom prst="roundRect">
            <a:avLst>
              <a:gd name="adj" fmla="val 49999"/>
            </a:avLst>
          </a:prstGeom>
          <a:solidFill>
            <a:srgbClr val="B8C3DF"/>
          </a:solidFill>
          <a:ln/>
        </p:spPr>
      </p:sp>
      <p:sp>
        <p:nvSpPr>
          <p:cNvPr id="4" name="Shape 2"/>
          <p:cNvSpPr/>
          <p:nvPr/>
        </p:nvSpPr>
        <p:spPr>
          <a:xfrm>
            <a:off x="2778849" y="2193429"/>
            <a:ext cx="19050" cy="460673"/>
          </a:xfrm>
          <a:prstGeom prst="roundRect">
            <a:avLst>
              <a:gd name="adj" fmla="val 49999"/>
            </a:avLst>
          </a:prstGeom>
          <a:solidFill>
            <a:srgbClr val="B8C3DF"/>
          </a:solidFill>
          <a:ln/>
        </p:spPr>
      </p:sp>
      <p:sp>
        <p:nvSpPr>
          <p:cNvPr id="5" name="Shape 3"/>
          <p:cNvSpPr/>
          <p:nvPr/>
        </p:nvSpPr>
        <p:spPr>
          <a:xfrm>
            <a:off x="2615638" y="2481362"/>
            <a:ext cx="345471" cy="345480"/>
          </a:xfrm>
          <a:prstGeom prst="roundRect">
            <a:avLst>
              <a:gd name="adj" fmla="val 18671"/>
            </a:avLst>
          </a:prstGeom>
          <a:solidFill>
            <a:srgbClr val="D2DDF9"/>
          </a:solidFill>
          <a:ln w="6350">
            <a:solidFill>
              <a:srgbClr val="B8C3D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673234" y="2510135"/>
            <a:ext cx="230281" cy="2879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14962" y="1279823"/>
            <a:ext cx="3946922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Phase 1 — Planning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14962" y="1594545"/>
            <a:ext cx="3946922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10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Stakeholder engagement, technical assessment, regulatory review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983732" y="2654102"/>
            <a:ext cx="19050" cy="460673"/>
          </a:xfrm>
          <a:prstGeom prst="roundRect">
            <a:avLst>
              <a:gd name="adj" fmla="val 49999"/>
            </a:avLst>
          </a:prstGeom>
          <a:solidFill>
            <a:srgbClr val="B8C3DF"/>
          </a:solidFill>
          <a:ln/>
        </p:spPr>
      </p:sp>
      <p:sp>
        <p:nvSpPr>
          <p:cNvPr id="10" name="Shape 8"/>
          <p:cNvSpPr/>
          <p:nvPr/>
        </p:nvSpPr>
        <p:spPr>
          <a:xfrm>
            <a:off x="4820522" y="2481362"/>
            <a:ext cx="345471" cy="345480"/>
          </a:xfrm>
          <a:prstGeom prst="roundRect">
            <a:avLst>
              <a:gd name="adj" fmla="val 18671"/>
            </a:avLst>
          </a:prstGeom>
          <a:solidFill>
            <a:srgbClr val="D2DDF9"/>
          </a:solidFill>
          <a:ln w="6350">
            <a:solidFill>
              <a:srgbClr val="B8C3D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78117" y="2510135"/>
            <a:ext cx="230281" cy="2879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019846" y="3268365"/>
            <a:ext cx="3946922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Phase 2 — Development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019846" y="3583087"/>
            <a:ext cx="3946922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10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Database design, facial recognition engine, EHR functionality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188715" y="2193429"/>
            <a:ext cx="19050" cy="460673"/>
          </a:xfrm>
          <a:prstGeom prst="roundRect">
            <a:avLst>
              <a:gd name="adj" fmla="val 49999"/>
            </a:avLst>
          </a:prstGeom>
          <a:solidFill>
            <a:srgbClr val="B8C3DF"/>
          </a:solidFill>
          <a:ln/>
        </p:spPr>
      </p:sp>
      <p:sp>
        <p:nvSpPr>
          <p:cNvPr id="15" name="Shape 13"/>
          <p:cNvSpPr/>
          <p:nvPr/>
        </p:nvSpPr>
        <p:spPr>
          <a:xfrm>
            <a:off x="7025504" y="2481362"/>
            <a:ext cx="345471" cy="345480"/>
          </a:xfrm>
          <a:prstGeom prst="roundRect">
            <a:avLst>
              <a:gd name="adj" fmla="val 18671"/>
            </a:avLst>
          </a:prstGeom>
          <a:solidFill>
            <a:srgbClr val="D2DDF9"/>
          </a:solidFill>
          <a:ln w="6350">
            <a:solidFill>
              <a:srgbClr val="B8C3D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83099" y="2510135"/>
            <a:ext cx="230281" cy="2879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224828" y="1279823"/>
            <a:ext cx="3946922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Phase 3 — Integration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224828" y="1594545"/>
            <a:ext cx="3946922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10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API development, security testing, pilot implementation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393598" y="2654102"/>
            <a:ext cx="19050" cy="460673"/>
          </a:xfrm>
          <a:prstGeom prst="roundRect">
            <a:avLst>
              <a:gd name="adj" fmla="val 49999"/>
            </a:avLst>
          </a:prstGeom>
          <a:solidFill>
            <a:srgbClr val="B8C3DF"/>
          </a:solidFill>
          <a:ln/>
        </p:spPr>
      </p:sp>
      <p:sp>
        <p:nvSpPr>
          <p:cNvPr id="20" name="Shape 18"/>
          <p:cNvSpPr/>
          <p:nvPr/>
        </p:nvSpPr>
        <p:spPr>
          <a:xfrm>
            <a:off x="9230387" y="2481362"/>
            <a:ext cx="345471" cy="345480"/>
          </a:xfrm>
          <a:prstGeom prst="roundRect">
            <a:avLst>
              <a:gd name="adj" fmla="val 18671"/>
            </a:avLst>
          </a:prstGeom>
          <a:solidFill>
            <a:srgbClr val="D2DDF9"/>
          </a:solidFill>
          <a:ln w="6350">
            <a:solidFill>
              <a:srgbClr val="B8C3D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87982" y="2510135"/>
            <a:ext cx="230281" cy="2879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429711" y="3268365"/>
            <a:ext cx="3946922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Phase 4 — Deployment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429711" y="3583087"/>
            <a:ext cx="3946922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10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Staff training, phased rollout, continuous improvement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61475" y="4215507"/>
            <a:ext cx="10868745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Key Takeaways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61475" y="4642545"/>
            <a:ext cx="10868745" cy="1021556"/>
          </a:xfrm>
          <a:prstGeom prst="rect">
            <a:avLst/>
          </a:prstGeom>
          <a:noFill/>
          <a:ln/>
        </p:spPr>
        <p:txBody>
          <a:bodyPr wrap="square" lIns="0" tIns="61431" rIns="0" bIns="0" rtlCol="0" anchor="t">
            <a:normAutofit/>
          </a:bodyPr>
          <a:lstStyle/>
          <a:p>
            <a:pPr marL="243840" indent="-243840" algn="l">
              <a:lnSpc>
                <a:spcPct val="121000"/>
              </a:lnSpc>
              <a:buSzPct val="100000"/>
              <a:buChar char="•"/>
            </a:pP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HIP-FR combines biometric identification with EHR functionality for rapid, accurate patient identification</a:t>
            </a:r>
            <a:endParaRPr lang="en-US" sz="1200" dirty="0"/>
          </a:p>
          <a:p>
            <a:pPr marL="243840" indent="-243840" algn="l">
              <a:lnSpc>
                <a:spcPct val="121000"/>
              </a:lnSpc>
              <a:buSzPct val="100000"/>
              <a:buChar char="•"/>
            </a:pP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Enables seamless continuity of care across participating providers</a:t>
            </a:r>
            <a:endParaRPr lang="en-US" sz="1200" dirty="0"/>
          </a:p>
          <a:p>
            <a:pPr marL="243840" indent="-243840" algn="l">
              <a:lnSpc>
                <a:spcPct val="121000"/>
              </a:lnSpc>
              <a:buSzPct val="100000"/>
              <a:buChar char="•"/>
            </a:pP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Privacy, security, accuracy, and patient trust are critical to successful implementation</a:t>
            </a:r>
            <a:endParaRPr lang="en-US" sz="1200" dirty="0"/>
          </a:p>
          <a:p>
            <a:pPr marL="243840" indent="-243840" algn="l">
              <a:lnSpc>
                <a:spcPct val="121000"/>
              </a:lnSpc>
              <a:buSzPct val="100000"/>
              <a:buChar char="•"/>
            </a:pP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The system balances technological innovation with protection of patient rights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91756" y="5944691"/>
            <a:ext cx="11248049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"Smart Healthcare Through Secure Identity, Connected Records, and Continuity of Care."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61475" y="5804396"/>
            <a:ext cx="19050" cy="503238"/>
          </a:xfrm>
          <a:prstGeom prst="roundRect">
            <a:avLst>
              <a:gd name="adj" fmla="val 49999"/>
            </a:avLst>
          </a:prstGeom>
          <a:solidFill>
            <a:srgbClr val="1B54DA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Droplet</Template>
  <TotalTime>98</TotalTime>
  <Words>831</Words>
  <Application>Microsoft Office PowerPoint</Application>
  <PresentationFormat>Widescreen</PresentationFormat>
  <Paragraphs>128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Nobile Bold</vt:lpstr>
      <vt:lpstr>Arial</vt:lpstr>
      <vt:lpstr>Roboto</vt:lpstr>
      <vt:lpstr>Alexandria</vt:lpstr>
      <vt:lpstr>Nobile</vt:lpstr>
      <vt:lpstr>Tw Cen MT</vt:lpstr>
      <vt:lpstr>Droplet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sheikh rasel</cp:lastModifiedBy>
  <cp:revision>6</cp:revision>
  <dcterms:created xsi:type="dcterms:W3CDTF">2026-08-24T16:57:59Z</dcterms:created>
  <dcterms:modified xsi:type="dcterms:W3CDTF">2026-08-24T18:37:54Z</dcterms:modified>
</cp:coreProperties>
</file>